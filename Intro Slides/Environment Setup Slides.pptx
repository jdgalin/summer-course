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99" r:id="rId2"/>
    <p:sldId id="269" r:id="rId3"/>
    <p:sldId id="270" r:id="rId4"/>
    <p:sldId id="271" r:id="rId5"/>
    <p:sldId id="272" r:id="rId6"/>
    <p:sldId id="273" r:id="rId7"/>
    <p:sldId id="274" r:id="rId8"/>
    <p:sldId id="275" r:id="rId9"/>
    <p:sldId id="314" r:id="rId10"/>
    <p:sldId id="315" r:id="rId11"/>
    <p:sldId id="317" r:id="rId12"/>
    <p:sldId id="318" r:id="rId13"/>
    <p:sldId id="319" r:id="rId14"/>
    <p:sldId id="316" r:id="rId15"/>
    <p:sldId id="320" r:id="rId16"/>
    <p:sldId id="322" r:id="rId17"/>
    <p:sldId id="32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868B87-9246-41CC-9D9B-D1C1D3FD1748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16B3EB-AC15-41EC-9E73-93E168ADF4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032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4a009736c_2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64a009736c_2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Take 3-5 minutes to let people download Python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64a009736c_2_1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5" name="Google Shape;215;g364a009736c_2_1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64a009736c_2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364a009736c_2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Give 3-5 minutes for download</a:t>
            </a:r>
            <a:endParaRPr/>
          </a:p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64a009736c_2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g364a009736c_2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64a009736c_2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0" name="Google Shape;240;g364a009736c_2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64a009736c_2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g364a009736c_2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CEB98131-FC7F-1A21-D059-38752821D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88E5B73D-8888-3A55-B5CA-21AC60CD41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6671704B-6B97-996B-1A73-08EE501E74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49051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BF7CD58D-AA99-2D4E-418D-F448130B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E624D76C-265A-699E-4ABA-59E8264174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7FD124F8-F1DC-6CA1-8F51-38D352F63E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95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6D92B1AD-7EBD-AF94-FD01-F243CFBB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D923C959-1751-241C-F26A-EEBDB4D2A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C58F478C-9E38-5705-19CE-532B7C73AC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64797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3779FBA9-C2C0-FDE2-2607-507A1F14C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F28A3232-8720-D270-4C79-4A806EB242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33F639CC-982A-19E5-FF77-11852B19F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64488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D3F6B0E8-BC63-2F74-3659-05F57ABB4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E821C97D-38B9-2361-C29A-7A7538768B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7CCB4817-B745-D82E-9704-7AAA0E07E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3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F8028C3B-253C-B182-F567-7DD57F8E8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A42A95B1-C817-03C1-E236-6919306AF8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ED415392-6612-E393-5C14-46785F7AD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8484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24BFAA10-D4F3-876C-85B5-07519BC70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23B12004-ABA3-917A-8855-9D1E3D7F9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B5994286-8906-C05C-6C96-E9128B31D6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1522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308DBC9B-3C2D-687B-860E-280AA97B6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191916EF-D68F-32FF-FFF7-7161239FB8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4AE1BAD8-782A-BCA3-D6B7-267B81265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3922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>
          <a:extLst>
            <a:ext uri="{FF2B5EF4-FFF2-40B4-BE49-F238E27FC236}">
              <a16:creationId xmlns:a16="http://schemas.microsoft.com/office/drawing/2014/main" id="{04716DC9-C8B4-9F73-7003-3B7D8CA8D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4a009736c_2_177:notes">
            <a:extLst>
              <a:ext uri="{FF2B5EF4-FFF2-40B4-BE49-F238E27FC236}">
                <a16:creationId xmlns:a16="http://schemas.microsoft.com/office/drawing/2014/main" id="{7179A8BD-D72B-17C3-44BC-06F2F61922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364a009736c_2_177:notes">
            <a:extLst>
              <a:ext uri="{FF2B5EF4-FFF2-40B4-BE49-F238E27FC236}">
                <a16:creationId xmlns:a16="http://schemas.microsoft.com/office/drawing/2014/main" id="{F5D984FA-6573-75F7-EB96-4069329336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68807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E390C-9397-4D4A-B464-BDBA7911D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E95897-14A5-26BA-F90C-8D2C87382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CC3B5-DB47-D083-027C-8D99A7BC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F03AF-F45A-10E4-C3F4-E9CD6FE9B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8AD59-0609-2D0F-8EF5-6F176CFB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38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4E0FA-DDED-BDB5-5668-9F2B74DD5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E7A7B-2EA1-04D0-89E5-6B3B34B3A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B3BF5-C5CC-D716-8A45-5D5A81757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A99B2-A62D-8126-72F0-951143542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85567-E5F2-89CB-8CED-A141673A6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524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8F0C-1972-F5B7-0AB9-191ADC99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D35A9E-2AEF-0C8E-D4DD-CE656C507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D4196-A600-8C0B-E06E-4F33C2EA5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587E3-6245-BE84-6A37-F9497236A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B319F-9CDB-2AED-BEEE-FEA0DC491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99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9D9D-AE10-1622-F156-F8036BF64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DDD28-D47D-9F6E-8ACF-D4FA1E8F1C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AB61F-DBB9-A810-B02E-71E601905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704F72-47C7-63CE-A07C-B8E705709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F29EB-392E-7E84-9633-8A4BF1D6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6BD16-47C6-5CA6-27FD-A546044C6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72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B77E4-5034-F02A-CBE7-E3BC4EDFF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D3EE1-2EAA-5A51-8C6E-F8529418C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A0BDF-C743-D514-2CE4-3B636BCE1E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E0AEE0-2932-A568-0AD8-544F617468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5A313-EC41-D4E8-A7E6-CA3759C144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727884-F5C4-B4BF-C2FE-13D823FED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6115AC-B89E-A2D7-4F9F-AEDF44AE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43E80-2750-76DC-B6AB-F71883F65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187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6ACAF-CFF4-6CBF-CC57-1B84F83F1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54FBD5-CFC8-601B-B775-BC2C24B1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CBDB4-AFFD-308F-A17A-5C2BCBE15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CC1840-3EBB-4C19-F59F-6E623A5E4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65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2FEA87-7FC0-086D-6004-65EBEDDC1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0D6862-05F8-1D2D-6FDE-644AA1001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74F94-4BBB-FD58-B481-B7AA8584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91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522D-5568-27A8-B052-FD984F377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D7BB3-986F-FC33-6174-75307E3C0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B608D-BFE5-CCBD-AB7B-DA7FC36BED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5472A-54CF-7AB5-46DB-A4DA200B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9C4BE-4C0A-17BC-A90C-232769AF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918DE1-8592-AC10-435E-B8FFE6F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50C9-B5C3-506C-44E2-001B1BD98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D09605-3B11-598F-5EA9-4A243912D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BA3873-6234-044B-857C-02BD26303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F53526-66A4-A30E-5DF0-8CD340432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7985C-8260-CD6B-DE06-73A80ECD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15E48-48C3-F70D-F84D-FE77BCE2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102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D76E-0AF6-00D9-5A55-CA9ED537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23DB4-E855-23A6-30CD-375A0A1268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C65D5-4B3C-FF0A-ADAD-DA6D3D777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D5D7-944C-CAF3-F66E-7C9ACBAE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DE8C-6029-6A83-D5D2-9BF7A628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40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3BED03-CCFE-A7CC-E708-E525510107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0C1120-2BAB-EC33-70CA-6F0F4A9FAF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C0CD2-68BF-4C58-28F0-DA8C2A13A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4A10B-A122-F84E-38F5-2BC5A522B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DF6B9-C847-9A77-7569-294C4829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148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1 June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506190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1 June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956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1 June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0800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E09EF-93AE-D73B-EB9D-F4EF1F81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41BED-11C4-3724-06EB-67A8640F7E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D87D1C-F1C7-4C2B-FCDE-03EB120CD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081D4-2226-4FE6-951C-7A028DFF2E70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4BF16-09E7-C65C-D3EB-57A62C974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ADD5A-8F12-8760-77BB-A9AF1BACC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F7C97-B503-4095-AB9D-02CDB7404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4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codependentcodr.com/building-a-vs-code-extension-without-installing-node-by-docker-magic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git-scm.com/" TargetMode="External"/><Relationship Id="rId4" Type="http://schemas.openxmlformats.org/officeDocument/2006/relationships/hyperlink" Target="https://github.com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FC-AI2C/summer-cours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828411-1094-C1F5-1084-577812B5A6F7}"/>
              </a:ext>
            </a:extLst>
          </p:cNvPr>
          <p:cNvSpPr>
            <a:spLocks noGrp="1"/>
          </p:cNvSpPr>
          <p:nvPr>
            <p:ph type="dt" sz="half" idx="49"/>
          </p:nvPr>
        </p:nvSpPr>
        <p:spPr>
          <a:xfrm>
            <a:off x="547688" y="6629400"/>
            <a:ext cx="823912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1EB7E-576C-73E8-5B5F-2697010DCCAA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>
          <a:xfrm>
            <a:off x="11210717" y="6629400"/>
            <a:ext cx="442001" cy="228600"/>
          </a:xfrm>
        </p:spPr>
        <p:txBody>
          <a:bodyPr/>
          <a:lstStyle/>
          <a:p>
            <a:pPr lvl="0"/>
            <a:fld id="{00000000-1234-1234-1234-123412341234}" type="slidenum">
              <a:rPr lang="en" smtClean="0"/>
              <a:pPr lvl="0"/>
              <a:t>1</a:t>
            </a:fld>
            <a:endParaRPr lang="en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07F7BEF-9C77-B531-8DE5-B514C4F255FC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104BDAF-E6C5-CA91-DC9C-A162E083C2A3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6E90EFF7-7E65-D2A7-19E4-C6FBAF35D12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6127C14C-A7BB-77BF-7FCB-ABE76EC0891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A0E9230-4B26-A842-0D16-588E614B3AA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68E0ED6-2B28-5CA4-A30B-CCCA36DD64D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964EDCB-FE00-1333-42BB-13D75D45210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48C6A0-ED75-EDBB-12BD-494DD21F8FB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8CEE4DC2-09B5-3CCD-457B-6B4790DECE3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90EB5AB-E609-F5DD-EB53-4B56B810D3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9E14C3F-58F5-2F80-022C-87483A4790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202820"/>
            <a:ext cx="6429375" cy="1325880"/>
          </a:xfrm>
        </p:spPr>
        <p:txBody>
          <a:bodyPr/>
          <a:lstStyle/>
          <a:p>
            <a:r>
              <a:rPr lang="en-US" dirty="0"/>
              <a:t>Environment setup</a:t>
            </a:r>
          </a:p>
        </p:txBody>
      </p:sp>
      <p:sp>
        <p:nvSpPr>
          <p:cNvPr id="20" name="Subtitle 19">
            <a:extLst>
              <a:ext uri="{FF2B5EF4-FFF2-40B4-BE49-F238E27FC236}">
                <a16:creationId xmlns:a16="http://schemas.microsoft.com/office/drawing/2014/main" id="{74F79F2D-9AB0-807C-BF93-1082689FCD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CDFCABD0-D84B-718A-39EB-8F3061855B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57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9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Let’s download Python</a:t>
            </a:r>
          </a:p>
        </p:txBody>
      </p:sp>
      <p:sp>
        <p:nvSpPr>
          <p:cNvPr id="211" name="Google Shape;211;p39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If you haven’t already… go to </a:t>
            </a:r>
            <a:r>
              <a:rPr lang="en-US" dirty="0" err="1"/>
              <a:t>python.org</a:t>
            </a:r>
            <a:r>
              <a:rPr lang="en-US" dirty="0"/>
              <a:t> and download the latest release of Python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pic>
        <p:nvPicPr>
          <p:cNvPr id="212" name="Google Shape;212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2491" y="2961331"/>
            <a:ext cx="8707019" cy="34851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Verify the download</a:t>
            </a:r>
          </a:p>
        </p:txBody>
      </p:sp>
      <p:sp>
        <p:nvSpPr>
          <p:cNvPr id="218" name="Google Shape;218;p40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 fontScale="62500" lnSpcReduction="20000"/>
          </a:bodyPr>
          <a:lstStyle/>
          <a:p>
            <a:pPr lvl="0"/>
            <a:r>
              <a:rPr lang="en-US" dirty="0"/>
              <a:t>Open a command prompt and type in “python”.  Your terminal should indicate it is running Python with the “&gt;&gt;&gt;” 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Run a few basic commands. </a:t>
            </a:r>
          </a:p>
          <a:p>
            <a:pPr lvl="0"/>
            <a:r>
              <a:rPr lang="en-US" dirty="0"/>
              <a:t>	x = 5</a:t>
            </a:r>
          </a:p>
          <a:p>
            <a:pPr lvl="0"/>
            <a:r>
              <a:rPr lang="en-US" dirty="0"/>
              <a:t>	x+2</a:t>
            </a:r>
          </a:p>
        </p:txBody>
      </p:sp>
      <p:pic>
        <p:nvPicPr>
          <p:cNvPr id="219" name="Google Shape;219;p40" descr="Tex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1" t="984" r="18696" b="49830"/>
          <a:stretch/>
        </p:blipFill>
        <p:spPr>
          <a:xfrm>
            <a:off x="1910962" y="2455333"/>
            <a:ext cx="7707173" cy="2402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Interactive Python</a:t>
            </a:r>
          </a:p>
        </p:txBody>
      </p:sp>
      <p:sp>
        <p:nvSpPr>
          <p:cNvPr id="225" name="Google Shape;225;p41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 lnSpcReduction="10000"/>
          </a:bodyPr>
          <a:lstStyle/>
          <a:p>
            <a:r>
              <a:rPr lang="en-US" dirty="0"/>
              <a:t>Running Python in the terminal like this is great way to interactively see what individual lines of code do but…</a:t>
            </a:r>
          </a:p>
          <a:p>
            <a:pPr lvl="0"/>
            <a:endParaRPr lang="en-US" dirty="0"/>
          </a:p>
          <a:p>
            <a:r>
              <a:rPr lang="en-US" dirty="0"/>
              <a:t>Oftentimes we want to run dozens (or hundreds) of lines of code at a time.  For this, we want to write python scripts.</a:t>
            </a:r>
          </a:p>
          <a:p>
            <a:endParaRPr lang="en-US" dirty="0"/>
          </a:p>
          <a:p>
            <a:r>
              <a:rPr lang="en-US" dirty="0"/>
              <a:t>It would also be nice if there was software that would help us write and manage code, have useful plugins, be integrated with AI,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endParaRPr lang="en-US" dirty="0"/>
          </a:p>
          <a:p>
            <a:r>
              <a:rPr lang="en-US" dirty="0"/>
              <a:t>We need an Integrated Development Environment (IDE)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/>
            <a:r>
              <a:rPr lang="en-US" dirty="0"/>
              <a:t>Integrated Development Environments (IDE)</a:t>
            </a:r>
          </a:p>
        </p:txBody>
      </p:sp>
      <p:sp>
        <p:nvSpPr>
          <p:cNvPr id="231" name="Google Shape;231;p42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There are many IDEs that can help you write and manage code. </a:t>
            </a:r>
          </a:p>
        </p:txBody>
      </p:sp>
      <p:pic>
        <p:nvPicPr>
          <p:cNvPr id="232" name="Google Shape;232;p42" descr="Visual Studio Code - Wikip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7127" y="3045587"/>
            <a:ext cx="2357879" cy="2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87674" y="3045590"/>
            <a:ext cx="2357879" cy="23578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3043" y="3045589"/>
            <a:ext cx="2928243" cy="2357879"/>
          </a:xfrm>
          <a:prstGeom prst="rect">
            <a:avLst/>
          </a:prstGeom>
          <a:solidFill>
            <a:schemeClr val="tx1"/>
          </a:solidFill>
          <a:ln>
            <a:noFill/>
          </a:ln>
        </p:spPr>
      </p:pic>
      <p:sp>
        <p:nvSpPr>
          <p:cNvPr id="235" name="Google Shape;235;p42"/>
          <p:cNvSpPr txBox="1"/>
          <p:nvPr/>
        </p:nvSpPr>
        <p:spPr>
          <a:xfrm>
            <a:off x="855134" y="5954076"/>
            <a:ext cx="300412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Visual Studio Code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5281635" y="5954076"/>
            <a:ext cx="216391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PyCharm</a:t>
            </a:r>
            <a:endParaRPr sz="2400" dirty="0">
              <a:solidFill>
                <a:schemeClr val="tx2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9387648" y="5876087"/>
            <a:ext cx="2163917" cy="492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r>
              <a:rPr lang="en" sz="2400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Notepad++</a:t>
            </a:r>
            <a:endParaRPr sz="2400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Visual Studio Code</a:t>
            </a:r>
          </a:p>
        </p:txBody>
      </p:sp>
      <p:sp>
        <p:nvSpPr>
          <p:cNvPr id="242" name="Google Shape;242;p43"/>
          <p:cNvSpPr txBox="1"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rmAutofit/>
          </a:bodyPr>
          <a:lstStyle/>
          <a:p>
            <a:pPr lvl="0"/>
            <a:r>
              <a:rPr lang="en-US" dirty="0"/>
              <a:t>We use VS Code in AI2C, and you will use it for classes at CMU.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VS Code has great version control management built in and many great plug-ins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Take a few minutes to download VS 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/>
              <a:t>Running code in VS Code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0E27E1E-4344-49AD-12D8-B7FB401A0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1" y="2148840"/>
            <a:ext cx="4563444" cy="4023360"/>
          </a:xfrm>
        </p:spPr>
        <p:txBody>
          <a:bodyPr/>
          <a:lstStyle/>
          <a:p>
            <a:r>
              <a:rPr lang="en-US" dirty="0"/>
              <a:t>Give a quick tutorial on VS Code:</a:t>
            </a:r>
          </a:p>
          <a:p>
            <a:r>
              <a:rPr lang="en-US" dirty="0"/>
              <a:t>	- File Explorer</a:t>
            </a:r>
          </a:p>
          <a:p>
            <a:r>
              <a:rPr lang="en-US" dirty="0"/>
              <a:t>	- Terminal in VS Code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D68B15CE-96CE-F60B-B4C7-BD6F827027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533938" y="1534962"/>
            <a:ext cx="6542397" cy="491155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5"/>
          <p:cNvSpPr txBox="1">
            <a:spLocks noGrp="1"/>
          </p:cNvSpPr>
          <p:nvPr>
            <p:ph type="title"/>
          </p:nvPr>
        </p:nvSpPr>
        <p:spPr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 fontScale="90000"/>
          </a:bodyPr>
          <a:lstStyle/>
          <a:p>
            <a:pPr lvl="0"/>
            <a:r>
              <a:rPr lang="en-US"/>
              <a:t>Saving Code on the Internet and version control?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9B81FB1-8F8E-2FF9-F09D-A7E77E215A0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548218" y="1845586"/>
            <a:ext cx="5365749" cy="40812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E02F45-AFB6-CAA8-8618-ACCB966647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133" dirty="0"/>
          </a:p>
          <a:p>
            <a:r>
              <a:rPr lang="en-US" sz="2133" dirty="0"/>
              <a:t>Go to </a:t>
            </a:r>
            <a:r>
              <a:rPr lang="en-US" sz="2133" dirty="0">
                <a:hlinkClick r:id="rId4"/>
              </a:rPr>
              <a:t>https://github.com</a:t>
            </a:r>
            <a:r>
              <a:rPr lang="en-US" sz="2133" dirty="0"/>
              <a:t> and setup a </a:t>
            </a:r>
            <a:r>
              <a:rPr lang="en-US" sz="2133" dirty="0" err="1"/>
              <a:t>github</a:t>
            </a:r>
            <a:r>
              <a:rPr lang="en-US" sz="2133" dirty="0"/>
              <a:t> account.</a:t>
            </a:r>
          </a:p>
          <a:p>
            <a:r>
              <a:rPr lang="en-US" sz="2133" dirty="0"/>
              <a:t>Also download git at </a:t>
            </a:r>
            <a:r>
              <a:rPr lang="en-US" sz="2133" dirty="0">
                <a:hlinkClick r:id="rId5"/>
              </a:rPr>
              <a:t>https://git-scm.com</a:t>
            </a:r>
            <a:r>
              <a:rPr lang="en-US" sz="2133" dirty="0"/>
              <a:t>.</a:t>
            </a:r>
          </a:p>
          <a:p>
            <a:endParaRPr lang="en-US" sz="213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1D012512-475A-1A49-2FFF-B1E79184C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>
            <a:extLst>
              <a:ext uri="{FF2B5EF4-FFF2-40B4-BE49-F238E27FC236}">
                <a16:creationId xmlns:a16="http://schemas.microsoft.com/office/drawing/2014/main" id="{32C0A142-BC40-EB92-5486-DEE33E937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Fork the content for this summer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58D23-7785-782C-DD39-1FA4D988A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2" y="1818587"/>
            <a:ext cx="7916375" cy="4023360"/>
          </a:xfrm>
        </p:spPr>
        <p:txBody>
          <a:bodyPr/>
          <a:lstStyle/>
          <a:p>
            <a:r>
              <a:rPr lang="en-US" dirty="0"/>
              <a:t>Go to </a:t>
            </a:r>
            <a:r>
              <a:rPr lang="en-US" dirty="0">
                <a:hlinkClick r:id="rId3"/>
              </a:rPr>
              <a:t>https://github.com/AFC-AI2C/summer-course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4C6DE1-3592-AF11-FAE3-F132EBD8B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1" y="2339279"/>
            <a:ext cx="9193251" cy="464673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1C4340D-9A99-7025-595C-23DE51FDB03A}"/>
              </a:ext>
            </a:extLst>
          </p:cNvPr>
          <p:cNvSpPr/>
          <p:nvPr/>
        </p:nvSpPr>
        <p:spPr>
          <a:xfrm>
            <a:off x="7790985" y="2656467"/>
            <a:ext cx="832624" cy="624468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</p:spTree>
    <p:extLst>
      <p:ext uri="{BB962C8B-B14F-4D97-AF65-F5344CB8AC3E}">
        <p14:creationId xmlns:p14="http://schemas.microsoft.com/office/powerpoint/2010/main" val="210788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CDA3A273-E3E1-FD5B-A39E-CCE21A24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E04F518-12DC-0094-D7ED-D293577F30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022" y="1377796"/>
            <a:ext cx="7346889" cy="52423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7FABDEE-5903-B2DF-C869-8F2A7D8A7FD7}"/>
              </a:ext>
            </a:extLst>
          </p:cNvPr>
          <p:cNvSpPr/>
          <p:nvPr/>
        </p:nvSpPr>
        <p:spPr>
          <a:xfrm>
            <a:off x="8157736" y="5772613"/>
            <a:ext cx="1011045" cy="624468"/>
          </a:xfrm>
          <a:prstGeom prst="rect">
            <a:avLst/>
          </a:prstGeom>
          <a:noFill/>
          <a:ln w="38100"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12" name="Google Shape;249;p44">
            <a:extLst>
              <a:ext uri="{FF2B5EF4-FFF2-40B4-BE49-F238E27FC236}">
                <a16:creationId xmlns:a16="http://schemas.microsoft.com/office/drawing/2014/main" id="{DBDECF57-42A8-4250-A37C-9A0667A156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Create a fork</a:t>
            </a:r>
          </a:p>
        </p:txBody>
      </p:sp>
    </p:spTree>
    <p:extLst>
      <p:ext uri="{BB962C8B-B14F-4D97-AF65-F5344CB8AC3E}">
        <p14:creationId xmlns:p14="http://schemas.microsoft.com/office/powerpoint/2010/main" val="558195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98945316-27DE-53FC-F095-006A50EFC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97F769-E95D-35AD-A952-B5BCB7213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8189"/>
            <a:ext cx="12192000" cy="5439811"/>
          </a:xfrm>
          <a:prstGeom prst="rect">
            <a:avLst/>
          </a:prstGeom>
        </p:spPr>
      </p:pic>
      <p:sp>
        <p:nvSpPr>
          <p:cNvPr id="4" name="Google Shape;249;p44">
            <a:extLst>
              <a:ext uri="{FF2B5EF4-FFF2-40B4-BE49-F238E27FC236}">
                <a16:creationId xmlns:a16="http://schemas.microsoft.com/office/drawing/2014/main" id="{88DB8D88-3EC1-3935-A284-76A61C783E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8511105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YOUR FORKED REPO!</a:t>
            </a:r>
          </a:p>
        </p:txBody>
      </p:sp>
    </p:spTree>
    <p:extLst>
      <p:ext uri="{BB962C8B-B14F-4D97-AF65-F5344CB8AC3E}">
        <p14:creationId xmlns:p14="http://schemas.microsoft.com/office/powerpoint/2010/main" val="120147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4CB87A01-4EFA-672D-64B8-B0B78A7FC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DC2C90-827C-B480-837E-FC88CCA51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1" y="1397665"/>
            <a:ext cx="9813073" cy="546738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15FBEC0-47A0-800A-E2D4-0294517B36BC}"/>
              </a:ext>
            </a:extLst>
          </p:cNvPr>
          <p:cNvSpPr/>
          <p:nvPr/>
        </p:nvSpPr>
        <p:spPr>
          <a:xfrm rot="9934382">
            <a:off x="6710556" y="1853572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07E99C7D-7B4F-40A2-63AA-AFCABBC53491}"/>
              </a:ext>
            </a:extLst>
          </p:cNvPr>
          <p:cNvSpPr/>
          <p:nvPr/>
        </p:nvSpPr>
        <p:spPr>
          <a:xfrm rot="10222261">
            <a:off x="6576740" y="3047996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6" name="Google Shape;249;p44">
            <a:extLst>
              <a:ext uri="{FF2B5EF4-FFF2-40B4-BE49-F238E27FC236}">
                <a16:creationId xmlns:a16="http://schemas.microsoft.com/office/drawing/2014/main" id="{2E826254-3333-D45A-95C4-6169A734EC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CLONE FOR LOCAL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2199570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2505F461-A12F-CE88-34BC-6E333589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FD5FAF-B0FA-EC0D-AA09-8DFA5D4F5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961" y="1397665"/>
            <a:ext cx="9813073" cy="5467384"/>
          </a:xfrm>
          <a:prstGeom prst="rect">
            <a:avLst/>
          </a:prstGeom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615ECF3-F782-8FF0-E04E-A6A6FADE0AEE}"/>
              </a:ext>
            </a:extLst>
          </p:cNvPr>
          <p:cNvSpPr/>
          <p:nvPr/>
        </p:nvSpPr>
        <p:spPr>
          <a:xfrm rot="9934382">
            <a:off x="6710556" y="1853572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EA905B4-86A4-F341-483C-91E6A7BEEA2D}"/>
              </a:ext>
            </a:extLst>
          </p:cNvPr>
          <p:cNvSpPr/>
          <p:nvPr/>
        </p:nvSpPr>
        <p:spPr>
          <a:xfrm rot="10222261">
            <a:off x="6576740" y="3047996"/>
            <a:ext cx="832624" cy="376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6" name="Google Shape;249;p44">
            <a:extLst>
              <a:ext uri="{FF2B5EF4-FFF2-40B4-BE49-F238E27FC236}">
                <a16:creationId xmlns:a16="http://schemas.microsoft.com/office/drawing/2014/main" id="{B9F9674D-A2DF-BE7D-F0F7-691414DDE9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CLONE FOR LOCAL DEVELOPMENT</a:t>
            </a:r>
          </a:p>
        </p:txBody>
      </p:sp>
    </p:spTree>
    <p:extLst>
      <p:ext uri="{BB962C8B-B14F-4D97-AF65-F5344CB8AC3E}">
        <p14:creationId xmlns:p14="http://schemas.microsoft.com/office/powerpoint/2010/main" val="4019813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C698C6C2-8A49-1088-7BD3-25145C4E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603F7A-F7A2-FBF5-EFAC-B34A10D0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65" y="2602504"/>
            <a:ext cx="9818471" cy="323895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A96263-EB07-EDF4-D1A4-1A1DFF6B63E0}"/>
              </a:ext>
            </a:extLst>
          </p:cNvPr>
          <p:cNvSpPr/>
          <p:nvPr/>
        </p:nvSpPr>
        <p:spPr>
          <a:xfrm>
            <a:off x="6779942" y="3211556"/>
            <a:ext cx="723591" cy="465873"/>
          </a:xfrm>
          <a:prstGeom prst="rect">
            <a:avLst/>
          </a:prstGeom>
          <a:solidFill>
            <a:srgbClr val="FF0000"/>
          </a:solidFill>
          <a:ln>
            <a:noFill/>
            <a:miter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267"/>
          </a:p>
        </p:txBody>
      </p:sp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EAAC3E57-E395-A9B5-080D-B657E2B648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IN VS CODE…</a:t>
            </a:r>
          </a:p>
        </p:txBody>
      </p:sp>
    </p:spTree>
    <p:extLst>
      <p:ext uri="{BB962C8B-B14F-4D97-AF65-F5344CB8AC3E}">
        <p14:creationId xmlns:p14="http://schemas.microsoft.com/office/powerpoint/2010/main" val="3049756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687B3AEB-B086-44F0-850A-20981CF14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879A4710-86A9-07AD-F1CC-722DD8A710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8642" y="411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What did we just do…?</a:t>
            </a:r>
          </a:p>
        </p:txBody>
      </p:sp>
    </p:spTree>
    <p:extLst>
      <p:ext uri="{BB962C8B-B14F-4D97-AF65-F5344CB8AC3E}">
        <p14:creationId xmlns:p14="http://schemas.microsoft.com/office/powerpoint/2010/main" val="1290567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28F88F64-D73E-2BD5-3582-446A1F70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FF877FF3-8C20-541A-B334-AA81082BA6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9238" y="283448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Take a 5 minute break</a:t>
            </a:r>
          </a:p>
        </p:txBody>
      </p:sp>
    </p:spTree>
    <p:extLst>
      <p:ext uri="{BB962C8B-B14F-4D97-AF65-F5344CB8AC3E}">
        <p14:creationId xmlns:p14="http://schemas.microsoft.com/office/powerpoint/2010/main" val="33836767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>
          <a:extLst>
            <a:ext uri="{FF2B5EF4-FFF2-40B4-BE49-F238E27FC236}">
              <a16:creationId xmlns:a16="http://schemas.microsoft.com/office/drawing/2014/main" id="{580CC921-698A-88A2-BE92-3B6495D49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249;p44">
            <a:extLst>
              <a:ext uri="{FF2B5EF4-FFF2-40B4-BE49-F238E27FC236}">
                <a16:creationId xmlns:a16="http://schemas.microsoft.com/office/drawing/2014/main" id="{E5BECAE6-C8EE-01B1-A7C2-D5D262B17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6097" y="306872"/>
            <a:ext cx="9813073" cy="1189037"/>
          </a:xfr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rmAutofit/>
          </a:bodyPr>
          <a:lstStyle/>
          <a:p>
            <a:pPr lvl="0"/>
            <a:r>
              <a:rPr lang="en-US" dirty="0"/>
              <a:t>More environment setup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407BE67-57F8-9DBF-61E1-778040026A10}"/>
              </a:ext>
            </a:extLst>
          </p:cNvPr>
          <p:cNvSpPr txBox="1">
            <a:spLocks/>
          </p:cNvSpPr>
          <p:nvPr/>
        </p:nvSpPr>
        <p:spPr>
          <a:xfrm>
            <a:off x="731520" y="1143000"/>
            <a:ext cx="5364480" cy="4572000"/>
          </a:xfrm>
          <a:prstGeom prst="rect">
            <a:avLst/>
          </a:prstGeom>
        </p:spPr>
        <p:txBody>
          <a:bodyPr/>
          <a:lstStyle>
            <a:lvl1pPr marL="137160" indent="-137160" algn="l" defTabSz="685800" rtl="0" eaLnBrk="1" latinLnBrk="0" hangingPunct="1">
              <a:lnSpc>
                <a:spcPct val="95000"/>
              </a:lnSpc>
              <a:spcBef>
                <a:spcPts val="750"/>
              </a:spcBef>
              <a:buFont typeface="Arial" panose="020B0604020202020204" pitchFamily="34" charset="0"/>
              <a:buChar char="▪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743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14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486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68580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82296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6012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09728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234440" indent="-137160" algn="l" defTabSz="685800" rtl="0" eaLnBrk="1" latinLnBrk="0" hangingPunct="1">
              <a:lnSpc>
                <a:spcPct val="95000"/>
              </a:lnSpc>
              <a:spcBef>
                <a:spcPts val="375"/>
              </a:spcBef>
              <a:buFont typeface="Arial" panose="020B0604020202020204" pitchFamily="34" charset="0"/>
              <a:buChar char="–"/>
              <a:defRPr sz="12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Open enviroment_setup.md</a:t>
            </a:r>
          </a:p>
          <a:p>
            <a:pPr marL="0" indent="0">
              <a:buNone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Follow steps to download:</a:t>
            </a:r>
          </a:p>
          <a:p>
            <a:pPr marL="457189" indent="-457189">
              <a:buAutoNum type="arabicParenR"/>
            </a:pPr>
            <a:r>
              <a:rPr lang="en-US" sz="2133" dirty="0"/>
              <a:t>WSL</a:t>
            </a:r>
          </a:p>
          <a:p>
            <a:pPr marL="457189" indent="-457189">
              <a:buAutoNum type="arabicParenR"/>
            </a:pPr>
            <a:r>
              <a:rPr lang="en-US" sz="2133" dirty="0"/>
              <a:t>Docker Desktop</a:t>
            </a:r>
          </a:p>
          <a:p>
            <a:pPr marL="457189" indent="-457189">
              <a:buAutoNum type="arabicParenR"/>
            </a:pPr>
            <a:r>
              <a:rPr lang="en-US" sz="2133" dirty="0"/>
              <a:t>Terraform</a:t>
            </a:r>
          </a:p>
          <a:p>
            <a:pPr marL="457189" indent="-457189">
              <a:buAutoNum type="arabicParenR"/>
            </a:pPr>
            <a:r>
              <a:rPr lang="en-US" sz="2133" dirty="0"/>
              <a:t>Azure CLI</a:t>
            </a:r>
          </a:p>
          <a:p>
            <a:pPr marL="457189" indent="-457189">
              <a:buAutoNum type="arabicParenR"/>
            </a:pPr>
            <a:endParaRPr lang="en-US" sz="2133" dirty="0"/>
          </a:p>
          <a:p>
            <a:pPr marL="0" indent="0">
              <a:buNone/>
            </a:pPr>
            <a:r>
              <a:rPr lang="en-US" sz="2133" dirty="0"/>
              <a:t>Set up this account:</a:t>
            </a:r>
          </a:p>
          <a:p>
            <a:pPr marL="0" indent="0">
              <a:buNone/>
            </a:pPr>
            <a:r>
              <a:rPr lang="en-US" sz="2133" dirty="0"/>
              <a:t>1) Docker Hub</a:t>
            </a:r>
          </a:p>
          <a:p>
            <a:pPr>
              <a:buClrTx/>
            </a:pP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2638676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360</Words>
  <Application>Microsoft Office PowerPoint</Application>
  <PresentationFormat>Widescreen</PresentationFormat>
  <Paragraphs>68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Arial Bold</vt:lpstr>
      <vt:lpstr>Office Theme</vt:lpstr>
      <vt:lpstr>Environment setup</vt:lpstr>
      <vt:lpstr>Let’s download Python</vt:lpstr>
      <vt:lpstr>Verify the download</vt:lpstr>
      <vt:lpstr>Interactive Python</vt:lpstr>
      <vt:lpstr>Integrated Development Environments (IDE)</vt:lpstr>
      <vt:lpstr>Visual Studio Code</vt:lpstr>
      <vt:lpstr>Running code in VS Code</vt:lpstr>
      <vt:lpstr>Saving Code on the Internet and version control?</vt:lpstr>
      <vt:lpstr>Fork the content for this summer</vt:lpstr>
      <vt:lpstr>Create a fork</vt:lpstr>
      <vt:lpstr>YOUR FORKED REPO!</vt:lpstr>
      <vt:lpstr>CLONE FOR LOCAL DEVELOPMENT</vt:lpstr>
      <vt:lpstr>CLONE FOR LOCAL DEVELOPMENT</vt:lpstr>
      <vt:lpstr>IN VS CODE…</vt:lpstr>
      <vt:lpstr>What did we just do…?</vt:lpstr>
      <vt:lpstr>Take a 5 minute break</vt:lpstr>
      <vt:lpstr>More environment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ryan.neville1990@gmail.com</dc:creator>
  <cp:lastModifiedBy>ryan.neville1990@gmail.com</cp:lastModifiedBy>
  <cp:revision>1</cp:revision>
  <dcterms:created xsi:type="dcterms:W3CDTF">2026-06-01T17:34:30Z</dcterms:created>
  <dcterms:modified xsi:type="dcterms:W3CDTF">2026-06-01T17:35:30Z</dcterms:modified>
</cp:coreProperties>
</file>