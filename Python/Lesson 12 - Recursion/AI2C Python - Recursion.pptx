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24"/>
  </p:notesMasterIdLst>
  <p:sldIdLst>
    <p:sldId id="256" r:id="rId6"/>
    <p:sldId id="257" r:id="rId7"/>
    <p:sldId id="270" r:id="rId8"/>
    <p:sldId id="258" r:id="rId9"/>
    <p:sldId id="259" r:id="rId10"/>
    <p:sldId id="260" r:id="rId11"/>
    <p:sldId id="261" r:id="rId12"/>
    <p:sldId id="267" r:id="rId13"/>
    <p:sldId id="271" r:id="rId14"/>
    <p:sldId id="268" r:id="rId15"/>
    <p:sldId id="262" r:id="rId16"/>
    <p:sldId id="272" r:id="rId17"/>
    <p:sldId id="263" r:id="rId18"/>
    <p:sldId id="264" r:id="rId19"/>
    <p:sldId id="265" r:id="rId20"/>
    <p:sldId id="266" r:id="rId21"/>
    <p:sldId id="269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DAD46-DEF6-B7D0-A7D3-6879BF5B2153}" v="629" dt="2025-12-23T16:40:27.664"/>
    <p1510:client id="{FFEED2B6-54C5-4E72-9ACA-FD1F60CA9349}" v="20" dt="2025-12-22T14:37:28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Recursion</a:t>
            </a:r>
            <a:endParaRPr lang="en-US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cs typeface="Arial"/>
              </a:rPr>
              <a:t>AI2C Tech Intro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cs typeface="Arial"/>
              </a:rPr>
              <a:t>Jul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What is recursion? 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To understand recursion, you must understand recursion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An algorithm that uses itself in its definition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“pip installs packages”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Two requirements: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A base case </a:t>
            </a:r>
            <a:endParaRPr lang="en-US" sz="240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A recursive step </a:t>
            </a:r>
            <a:endParaRPr lang="en-US" sz="240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FC2850-EBDA-ECC8-D5D5-AEDDEECD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748" y="2295034"/>
            <a:ext cx="5808607" cy="388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1C788-5CC6-566B-8C8B-79DB881D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9F3507-28F9-40B6-145B-9130D0A6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Terms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C150A5-DCB5-8402-6493-DC5B124001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Base case: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The “terminating step” </a:t>
            </a:r>
            <a:endParaRPr lang="en-US" sz="240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How does the recursion stop?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endParaRPr lang="en-US" sz="2800">
              <a:cs typeface="Arial"/>
            </a:endParaRPr>
          </a:p>
          <a:p>
            <a:endParaRPr lang="en-US" sz="2800"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8D997A-0A06-7B06-E6AF-CC7A114B97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Recursive step: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Decreases the size of the input </a:t>
            </a:r>
            <a:endParaRPr lang="en-US" sz="240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Passes smaller input to a new instance of itself </a:t>
            </a:r>
            <a:endParaRPr lang="en-US" sz="2400">
              <a:solidFill>
                <a:schemeClr val="bg2"/>
              </a:solidFill>
              <a:cs typeface="Arial"/>
            </a:endParaRPr>
          </a:p>
          <a:p>
            <a:endParaRPr lang="en-US" sz="2800">
              <a:cs typeface="Arial"/>
            </a:endParaRPr>
          </a:p>
          <a:p>
            <a:endParaRPr lang="en-US" sz="280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4B72B-9E70-9CC0-DC74-439A9A8FC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4CBC0-83C1-23F6-0F4F-813A99E31A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6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An example 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What is(are) the base case(s)?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What is(are) the recursive step(s)?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The input datatype doesn’t change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Small demo </a:t>
            </a:r>
            <a:endParaRPr lang="en-US" sz="2800">
              <a:solidFill>
                <a:schemeClr val="bg2"/>
              </a:solidFill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E78C1C-E064-347C-2437-40225FA9E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4155" y="1600199"/>
            <a:ext cx="5732342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def factorial(n: int): </a:t>
            </a:r>
            <a:endParaRPr lang="en-US" sz="2400">
              <a:solidFill>
                <a:schemeClr val="bg2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   if n == 1 or n == 0: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       return 1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   return n * factorial(n - 1) </a:t>
            </a:r>
            <a:endParaRPr lang="en-US" sz="2400" dirty="0">
              <a:solidFill>
                <a:schemeClr val="bg2"/>
              </a:solidFill>
              <a:latin typeface="Courier New"/>
              <a:cs typeface="Arial"/>
            </a:endParaRPr>
          </a:p>
          <a:p>
            <a:endParaRPr lang="en-US" sz="2800" dirty="0">
              <a:latin typeface="Courier New"/>
              <a:cs typeface="Arial"/>
            </a:endParaRPr>
          </a:p>
          <a:p>
            <a:endParaRPr lang="en-US" sz="2800" dirty="0">
              <a:latin typeface="Courier New"/>
              <a:cs typeface="Arial"/>
            </a:endParaRPr>
          </a:p>
          <a:p>
            <a:endParaRPr lang="en-US" sz="2800" dirty="0">
              <a:latin typeface="Courier New"/>
              <a:cs typeface="Arial"/>
            </a:endParaRPr>
          </a:p>
          <a:p>
            <a:endParaRPr lang="en-US" sz="2800" dirty="0">
              <a:latin typeface="Courier New"/>
              <a:cs typeface="Arial"/>
            </a:endParaRPr>
          </a:p>
          <a:p>
            <a:endParaRPr lang="en-US" sz="2800" dirty="0">
              <a:latin typeface="Courier New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C557D8-258A-C949-B209-BC04A1B7A79E}"/>
              </a:ext>
            </a:extLst>
          </p:cNvPr>
          <p:cNvSpPr/>
          <p:nvPr/>
        </p:nvSpPr>
        <p:spPr>
          <a:xfrm>
            <a:off x="6552235" y="2052695"/>
            <a:ext cx="3986601" cy="8507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33BB373-BF1B-53C3-737E-0C82DCCD5BA7}"/>
              </a:ext>
            </a:extLst>
          </p:cNvPr>
          <p:cNvCxnSpPr>
            <a:cxnSpLocks/>
          </p:cNvCxnSpPr>
          <p:nvPr/>
        </p:nvCxnSpPr>
        <p:spPr>
          <a:xfrm>
            <a:off x="5460331" y="2008651"/>
            <a:ext cx="1065627" cy="167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F951129-8AE4-CE91-5264-25473EC09FB5}"/>
              </a:ext>
            </a:extLst>
          </p:cNvPr>
          <p:cNvSpPr/>
          <p:nvPr/>
        </p:nvSpPr>
        <p:spPr>
          <a:xfrm>
            <a:off x="8544286" y="2972730"/>
            <a:ext cx="3095921" cy="473135"/>
          </a:xfrm>
          <a:prstGeom prst="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DAE432-D17D-E92F-B1C9-560B92E49FD0}"/>
              </a:ext>
            </a:extLst>
          </p:cNvPr>
          <p:cNvCxnSpPr>
            <a:cxnSpLocks/>
          </p:cNvCxnSpPr>
          <p:nvPr/>
        </p:nvCxnSpPr>
        <p:spPr>
          <a:xfrm>
            <a:off x="4672473" y="2624027"/>
            <a:ext cx="3845539" cy="611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2E08C-D8E9-E420-B456-14B024EB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9D6B5ED-2925-DE99-23A7-267959C0A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solidFill>
                  <a:schemeClr val="bg2"/>
                </a:solidFill>
                <a:ea typeface="+mj-lt"/>
                <a:cs typeface="+mj-lt"/>
              </a:rPr>
              <a:t>Order of Execution / Return Values </a:t>
            </a:r>
            <a:endParaRPr lang="en-US" sz="280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C5A67-1B49-77FA-382B-1EA79A28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B0882-5502-0C67-CC8B-F2FB394F67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Content Placeholder 5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DFC77474-3F77-430C-605B-F55DB44BB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1219" y="1259269"/>
            <a:ext cx="6619218" cy="537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7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4C692-7405-C414-BC2E-3901E540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81F8F51-E9DE-E4CD-FC68-73D403BD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On Your Own </a:t>
            </a:r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FAFC905-7224-8A1C-A820-490548353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Calculate the sum of a list of numbers using recursion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What is(are) the base case(s)?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What is(are) the recursive step(s)?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(be careful about passing lists around) </a:t>
            </a:r>
            <a:endParaRPr lang="en-US" sz="280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28B047-408A-DB11-E9B2-C6E361C0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8C944-837C-7A91-2DDE-93D8564D4D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6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8C2BE-F51C-A407-52ED-1EC9A2CC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2FDC9E7-21EB-3E02-7165-0C3B6CBB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A solution 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9B73CC7-CEAA-CDBB-60E0-B9636C062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def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re_sum_one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: list[int]) -&gt; int: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   if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len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) == 1: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       return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num_list.pop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()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endParaRPr lang="en-US" sz="2400" dirty="0"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   last =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num_list.pop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()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   print(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f"Calculating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 {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[:]} + {last}")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   return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re_sum_one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[:]) + last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F464-22ED-B80D-B26B-1C0C1AC0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B67D40-FDA9-45B1-4452-F7C9D423DB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68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F3023-3991-9C35-517F-75802E03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9F8A85-E826-0340-70C6-87078DF1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More about stacks 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C1CAC4-26E7-B5A5-645A-A1BE7762CC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endParaRPr lang="en-US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endParaRPr lang="en-US"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7E81D0-341C-5485-E81E-AFBEE57A8D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What bad things can happen here?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endParaRPr lang="en-US" sz="2800">
              <a:cs typeface="Arial"/>
            </a:endParaRPr>
          </a:p>
          <a:p>
            <a:endParaRPr lang="en-US" sz="2800">
              <a:cs typeface="Arial"/>
            </a:endParaRPr>
          </a:p>
          <a:p>
            <a:endParaRPr lang="en-US" sz="2800">
              <a:cs typeface="Arial"/>
            </a:endParaRPr>
          </a:p>
          <a:p>
            <a:endParaRPr lang="en-US" sz="2800"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Don’t forget the base case!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Small demo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BFC98-DF0E-DB71-65BB-36FA22B0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7F63E-10BA-A7B1-4046-96A2469DE1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EEA5D5-AB83-38CD-B599-DE61538B6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3" y="1602171"/>
            <a:ext cx="555307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09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14B3-FAA3-36CD-926B-A7C75A7A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Multiple Recursion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7789-4F8D-BFF3-4417-0562112E2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FAF8C-3763-7036-02A0-EEA1A513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86EF2-B948-6B0F-22A0-78C4B64CB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08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49021-4EFD-F22D-592B-4B0589C4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B4BE34-4F64-06EB-28EA-9724E33E0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Multiple Recursion 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4BD5A1-78D1-2FB7-2BF0-0F170A52D4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A function that calls itself multiple times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What is(are) the base case(s)?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What is(are) the recursive step(s)? </a:t>
            </a:r>
            <a:endParaRPr lang="en-US" sz="2800">
              <a:solidFill>
                <a:schemeClr val="bg2"/>
              </a:solidFill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4402D1-7E61-5EB4-A56D-7953EBCF7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79638" y="1600199"/>
            <a:ext cx="6415512" cy="4466898"/>
          </a:xfrm>
        </p:spPr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def fib(n: int) -&gt; int: </a:t>
            </a:r>
            <a:endParaRPr lang="en-US" dirty="0">
              <a:solidFill>
                <a:schemeClr val="bg2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   if n == 0: </a:t>
            </a:r>
            <a:endParaRPr lang="en-US" sz="28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return 0 </a:t>
            </a:r>
            <a:endParaRPr lang="en-US" sz="28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 if n == 1: </a:t>
            </a:r>
            <a:endParaRPr lang="en-US" sz="28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return 1 </a:t>
            </a:r>
            <a:endParaRPr lang="en-US" sz="28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endParaRPr lang="en-US" sz="2800" dirty="0">
              <a:solidFill>
                <a:schemeClr val="bg2"/>
              </a:solidFill>
              <a:latin typeface="Courier New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 return fib(n-1) + fib(n-2) </a:t>
            </a:r>
            <a:endParaRPr lang="en-US" sz="2800" dirty="0">
              <a:solidFill>
                <a:schemeClr val="bg2"/>
              </a:solidFill>
              <a:latin typeface="Courier New"/>
              <a:cs typeface="Arial"/>
            </a:endParaRPr>
          </a:p>
          <a:p>
            <a:endParaRPr lang="en-US" sz="2800" dirty="0">
              <a:latin typeface="Courier New"/>
              <a:cs typeface="Arial"/>
            </a:endParaRPr>
          </a:p>
          <a:p>
            <a:pPr marL="0" indent="0">
              <a:buNone/>
            </a:pPr>
            <a:endParaRPr lang="en-US" sz="2800" dirty="0">
              <a:latin typeface="Courier New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D7C2F-5D81-385D-16E0-E451AE6D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8F4D5-B691-26CB-B0A0-3DA17D55B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50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C0845-F91D-0240-FCFE-B4B3E9FF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E54FCF9-EDE3-378A-AA17-383445A4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Another Example 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37326D6-10B1-8CE4-8937-6D2ECF169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4" y="1705300"/>
            <a:ext cx="12155410" cy="4466898"/>
          </a:xfrm>
        </p:spPr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def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re_sum_half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: list[int]) -&gt; int: </a:t>
            </a:r>
            <a:endParaRPr lang="en-US" sz="2400">
              <a:solidFill>
                <a:schemeClr val="bg2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 if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len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) == 1: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return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[0]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endParaRPr lang="en-US" sz="16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 half =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len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) // 2 </a:t>
            </a:r>
            <a:endParaRPr lang="en-US" sz="240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 return </a:t>
            </a:r>
            <a:r>
              <a:rPr lang="en-US" sz="2400" dirty="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re_sum_half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400" dirty="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[:half]) + 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       </a:t>
            </a:r>
            <a:r>
              <a:rPr lang="en-US" sz="2400" dirty="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re_sum_half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400" dirty="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[half:])</a:t>
            </a:r>
            <a:endParaRPr lang="en-US" sz="2400" dirty="0">
              <a:solidFill>
                <a:schemeClr val="bg2"/>
              </a:solidFill>
              <a:latin typeface="Courier New"/>
              <a:cs typeface="Arial"/>
            </a:endParaRPr>
          </a:p>
          <a:p>
            <a:endParaRPr lang="en-US" sz="1600" dirty="0">
              <a:latin typeface="Courier New"/>
              <a:cs typeface="Courier New"/>
            </a:endParaRPr>
          </a:p>
          <a:p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D5609-DB46-8AF0-0F81-63A73015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EB42BD-306E-0244-A21D-4B72D9F489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0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2D0B6-FC3A-18E0-D4B9-A41D755B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7257-16FB-4BFA-75E8-F5433B84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Other Common Problems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1B1C5-779C-55B8-C40B-905193CA9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EC277-3D67-A6EF-2967-9FEC0F83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EBA38-6FC9-B94C-EF44-700BFDBB90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97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6B4A0-374F-1866-22F3-1A7FD1ED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B1F01F57-EAB6-6D65-D0FE-0BDDD190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Binary Search </a:t>
            </a:r>
            <a:endParaRPr lang="en-US"/>
          </a:p>
        </p:txBody>
      </p:sp>
      <p:pic>
        <p:nvPicPr>
          <p:cNvPr id="4" name="Content Placeholder 3" descr="A table with numbers and a few digits&#10;&#10;AI-generated content may be incorrect.">
            <a:extLst>
              <a:ext uri="{FF2B5EF4-FFF2-40B4-BE49-F238E27FC236}">
                <a16:creationId xmlns:a16="http://schemas.microsoft.com/office/drawing/2014/main" id="{26D04845-CBB7-3762-5F1A-ACE264C3B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1147" y="1433839"/>
            <a:ext cx="7233087" cy="519375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392F0-1A95-3113-93AC-E160355B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96C06B-31C5-B16E-5AC9-988557FDF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15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845A3-8BB4-4C80-34AF-62B9F75D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6662C123-9E67-56B5-BDF8-A1C2B08C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Binary Search </a:t>
            </a:r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43102E1-98A7-B6DE-1506-A2AA50796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def </a:t>
            </a:r>
            <a:r>
              <a:rPr lang="en-US" sz="20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binary_search</a:t>
            </a: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0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arr</a:t>
            </a: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, low, high, x):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 """assumes array is already sorted"""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 if high &gt;= low: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mid = (high + low) // 2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if </a:t>
            </a:r>
            <a:r>
              <a:rPr lang="en-US" sz="20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arr</a:t>
            </a: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[mid] == x: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CC01"/>
                </a:solidFill>
                <a:latin typeface="Courier New"/>
                <a:cs typeface="Arial"/>
              </a:rPr>
              <a:t> </a:t>
            </a: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    return mid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</a:t>
            </a:r>
            <a:r>
              <a:rPr lang="en-US" sz="20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elif</a:t>
            </a: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arr</a:t>
            </a: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[mid] &gt; x: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     return </a:t>
            </a:r>
            <a:r>
              <a:rPr lang="en-US" sz="20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binary_search</a:t>
            </a: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0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arr</a:t>
            </a: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, low, mid - 1, x)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else: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     return </a:t>
            </a:r>
            <a:r>
              <a:rPr lang="en-US" sz="20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binary_search</a:t>
            </a: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0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arr</a:t>
            </a: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, mid + 1, high, x)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 else: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return -1 </a:t>
            </a:r>
            <a:endParaRPr lang="en-US" sz="2000" dirty="0">
              <a:solidFill>
                <a:schemeClr val="bg2"/>
              </a:solidFill>
              <a:latin typeface="Courier New"/>
              <a:cs typeface="Arial"/>
            </a:endParaRPr>
          </a:p>
          <a:p>
            <a:endParaRPr lang="en-US" sz="2000" dirty="0">
              <a:latin typeface="Courier New"/>
              <a:cs typeface="Arial"/>
            </a:endParaRPr>
          </a:p>
          <a:p>
            <a:endParaRPr lang="en-US" sz="2000" dirty="0">
              <a:latin typeface="Courier New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AFC3A-4E6B-E5B8-ADCD-5561B637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0DE7DF-4307-BA3B-E991-462F30F4D3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26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6A842-823C-F937-3113-219F4B48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34C44DB3-AB44-C631-9178-28ED4265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Directory Traversal 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B58B6-52FB-CB85-BEC2-6D1E8AC5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56634F-FB5D-3E05-7E7D-7A71B145E1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Content Placeholder 5" descr="A diagram of a test&#10;&#10;AI-generated content may be incorrect.">
            <a:extLst>
              <a:ext uri="{FF2B5EF4-FFF2-40B4-BE49-F238E27FC236}">
                <a16:creationId xmlns:a16="http://schemas.microsoft.com/office/drawing/2014/main" id="{54270F6C-BFDB-09FE-C1EB-0900AA94E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468" y="1717615"/>
            <a:ext cx="7898722" cy="486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63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7FF4F-16BD-47DA-4A1A-1F5186EB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0A87532-B906-770E-C88D-A98D2F23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Directory Traversal </a:t>
            </a:r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6DA9C7F-C235-3994-ED0B-692973F33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import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os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 </a:t>
            </a:r>
            <a:endParaRPr lang="en-US" sz="2400" dirty="0">
              <a:solidFill>
                <a:schemeClr val="bg2"/>
              </a:solidFill>
              <a:latin typeface="Courier New"/>
              <a:cs typeface="Arial"/>
            </a:endParaRPr>
          </a:p>
          <a:p>
            <a:endParaRPr lang="en-US" sz="2400" dirty="0"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def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list_dir_recursive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(directory): </a:t>
            </a:r>
            <a:endParaRPr lang="en-US" sz="24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 for entry in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os.listdir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(directory): </a:t>
            </a:r>
            <a:endParaRPr lang="en-US" sz="24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full_path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 =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os.path.join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(directory, entry) </a:t>
            </a:r>
            <a:endParaRPr lang="en-US" sz="24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if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os.path.isdir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full_path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): </a:t>
            </a:r>
            <a:endParaRPr lang="en-US" sz="24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     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list_dir_recursive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full_path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) </a:t>
            </a:r>
            <a:endParaRPr lang="en-US" sz="24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 else: </a:t>
            </a:r>
            <a:endParaRPr lang="en-US" sz="2400" dirty="0">
              <a:solidFill>
                <a:schemeClr val="bg2"/>
              </a:solidFill>
              <a:latin typeface="Courier New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            print(</a:t>
            </a:r>
            <a:r>
              <a:rPr lang="en-US" sz="2400" err="1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full_path</a:t>
            </a:r>
            <a:r>
              <a:rPr lang="en-US" sz="2400" dirty="0">
                <a:solidFill>
                  <a:schemeClr val="bg2"/>
                </a:solidFill>
                <a:latin typeface="Courier New"/>
                <a:ea typeface="+mn-lt"/>
                <a:cs typeface="+mn-lt"/>
              </a:rPr>
              <a:t>) </a:t>
            </a:r>
            <a:endParaRPr lang="en-US" sz="2400" dirty="0">
              <a:solidFill>
                <a:schemeClr val="bg2"/>
              </a:solidFill>
              <a:latin typeface="Courier New"/>
              <a:cs typeface="Arial"/>
            </a:endParaRPr>
          </a:p>
          <a:p>
            <a:endParaRPr lang="en-US" sz="2400" dirty="0">
              <a:latin typeface="Courier New"/>
              <a:cs typeface="Arial"/>
            </a:endParaRPr>
          </a:p>
          <a:p>
            <a:endParaRPr lang="en-US" sz="2400" dirty="0">
              <a:latin typeface="Courier New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8B8E32-F0A2-0B78-35DE-82A889C4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62CD1-6184-CE8E-14E0-DCCDADB9B0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91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3C5DF-1FB9-27B6-D0FD-FCED9587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E8AA1DB-96BB-8E83-C6CB-6B8B7E4F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Other Thoughts / On Your Own 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DDACD2-B535-F990-54CC-B09863610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Order of Execution 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(depth vs breadth)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Recursive vs Iterative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Tail-call optimization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endParaRPr lang="en-US" sz="2800">
              <a:cs typeface="Arial"/>
            </a:endParaRPr>
          </a:p>
          <a:p>
            <a:endParaRPr lang="en-US" sz="2800">
              <a:cs typeface="Arial"/>
            </a:endParaRPr>
          </a:p>
          <a:p>
            <a:endParaRPr lang="en-US" sz="2800">
              <a:cs typeface="Arial"/>
            </a:endParaRPr>
          </a:p>
          <a:p>
            <a:endParaRPr lang="en-US" sz="2800">
              <a:cs typeface="Arial"/>
            </a:endParaRPr>
          </a:p>
        </p:txBody>
      </p:sp>
      <p:pic>
        <p:nvPicPr>
          <p:cNvPr id="2" name="Content Placeholder 1" descr="A diagram of a test&#10;&#10;AI-generated content may be incorrect.">
            <a:extLst>
              <a:ext uri="{FF2B5EF4-FFF2-40B4-BE49-F238E27FC236}">
                <a16:creationId xmlns:a16="http://schemas.microsoft.com/office/drawing/2014/main" id="{8E803C28-6D3A-FDD2-C79F-3C5D9D552E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3328" y="1576816"/>
            <a:ext cx="6573168" cy="396187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2EA5C-9A65-2CDD-FB31-115BBA85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C7EED-747B-679E-C750-452BF23C8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0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54390-4AFD-A24E-F624-4D76DA77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2927-AA15-F7D3-A5AB-7B1B8FAD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Questions?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96D68-CD68-0BD9-72EA-BAA3AB8B0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F5A12-A317-2675-D16E-25099A80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1324A-CBC8-807B-65BD-F7EE47767C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27434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4B5808-DACA-4273-92AE-F78AD06EB5C9}">
  <ds:schemaRefs>
    <ds:schemaRef ds:uri="43c4306d-bcae-48a3-b5b4-6245fba36c72"/>
    <ds:schemaRef ds:uri="819a213c-e595-4af7-868c-5311d0f07b09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8F325A96-F9CD-4C1F-BC68-5ED8156DC1C7}">
  <ds:schemaRefs>
    <ds:schemaRef ds:uri="43c4306d-bcae-48a3-b5b4-6245fba36c72"/>
    <ds:schemaRef ds:uri="819a213c-e595-4af7-868c-5311d0f07b0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US Army 2023 AFC DEVCOM Logo</vt:lpstr>
      <vt:lpstr>Recursion</vt:lpstr>
      <vt:lpstr>What is recursion? </vt:lpstr>
      <vt:lpstr>Terms</vt:lpstr>
      <vt:lpstr>An example </vt:lpstr>
      <vt:lpstr>Order of Execution / Return Values </vt:lpstr>
      <vt:lpstr>On Your Own </vt:lpstr>
      <vt:lpstr>A solution </vt:lpstr>
      <vt:lpstr>More about stacks </vt:lpstr>
      <vt:lpstr>Multiple Recursion </vt:lpstr>
      <vt:lpstr>Multiple Recursion </vt:lpstr>
      <vt:lpstr>Another Example </vt:lpstr>
      <vt:lpstr>Other Common Problems </vt:lpstr>
      <vt:lpstr>Binary Search </vt:lpstr>
      <vt:lpstr>Binary Search </vt:lpstr>
      <vt:lpstr>Directory Traversal </vt:lpstr>
      <vt:lpstr>Directory Traversal </vt:lpstr>
      <vt:lpstr>Other Thoughts / On Your Own 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revision>53</cp:revision>
  <dcterms:created xsi:type="dcterms:W3CDTF">2024-10-01T14:45:26Z</dcterms:created>
  <dcterms:modified xsi:type="dcterms:W3CDTF">2025-12-23T16:40:28Z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