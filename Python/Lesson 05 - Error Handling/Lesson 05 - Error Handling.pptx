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2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9063A8-BC75-44AB-A561-BE0A82F3F6A3}">
  <a:tblStyle styleId="{5B9063A8-BC75-44AB-A561-BE0A82F3F6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638" autoAdjust="0"/>
  </p:normalViewPr>
  <p:slideViewPr>
    <p:cSldViewPr snapToGrid="0">
      <p:cViewPr varScale="1">
        <p:scale>
          <a:sx n="153" d="100"/>
          <a:sy n="153" d="100"/>
        </p:scale>
        <p:origin x="8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rgbClr val="221F2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pic>
        <p:nvPicPr>
          <p:cNvPr id="31" name="Google Shape;31;p3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34" name="Google Shape;34;p3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35;p3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7" name="Google Shape;37;p3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White">
  <p:cSld name="Title Slide - White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4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5668" y="78731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57" name="Google Shape;57;p4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" name="Google Shape;58;p4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" name="Google Shape;59;p4"/>
            <p:cNvCxnSpPr/>
            <p:nvPr/>
          </p:nvCxnSpPr>
          <p:spPr>
            <a:xfrm>
              <a:off x="4272796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" name="Google Shape;60;p4"/>
          <p:cNvSpPr txBox="1"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subTitle" idx="14"/>
          </p:nvPr>
        </p:nvSpPr>
        <p:spPr>
          <a:xfrm>
            <a:off x="685800" y="2838549"/>
            <a:ext cx="267414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Image">
  <p:cSld name="Title Slide - Imag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5" descr="U.S. Arm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78" name="Google Shape;78;p5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" name="Google Shape;79;p5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" name="Google Shape;80;p5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1" name="Google Shape;81;p5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2"/>
          </p:nvPr>
        </p:nvSpPr>
        <p:spPr>
          <a:xfrm>
            <a:off x="3278124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3"/>
          </p:nvPr>
        </p:nvSpPr>
        <p:spPr>
          <a:xfrm>
            <a:off x="6144767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body" idx="1"/>
          </p:nvPr>
        </p:nvSpPr>
        <p:spPr>
          <a:xfrm>
            <a:off x="41148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body" idx="2"/>
          </p:nvPr>
        </p:nvSpPr>
        <p:spPr>
          <a:xfrm>
            <a:off x="256032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3"/>
          </p:nvPr>
        </p:nvSpPr>
        <p:spPr>
          <a:xfrm>
            <a:off x="470916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4"/>
          </p:nvPr>
        </p:nvSpPr>
        <p:spPr>
          <a:xfrm>
            <a:off x="685800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cons">
  <p:cSld name="4 Icon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0"/>
          <p:cNvSpPr>
            <a:spLocks noGrp="1"/>
          </p:cNvSpPr>
          <p:nvPr>
            <p:ph type="pic" idx="2"/>
          </p:nvPr>
        </p:nvSpPr>
        <p:spPr>
          <a:xfrm>
            <a:off x="411480" y="1200150"/>
            <a:ext cx="418338" cy="416624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0"/>
          <p:cNvSpPr txBox="1">
            <a:spLocks noGrp="1"/>
          </p:cNvSpPr>
          <p:nvPr>
            <p:ph type="body" idx="1"/>
          </p:nvPr>
        </p:nvSpPr>
        <p:spPr>
          <a:xfrm>
            <a:off x="41148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7" name="Google Shape;117;p10"/>
          <p:cNvSpPr>
            <a:spLocks noGrp="1"/>
          </p:cNvSpPr>
          <p:nvPr>
            <p:ph type="pic" idx="3"/>
          </p:nvPr>
        </p:nvSpPr>
        <p:spPr>
          <a:xfrm>
            <a:off x="256032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0"/>
          <p:cNvSpPr txBox="1">
            <a:spLocks noGrp="1"/>
          </p:cNvSpPr>
          <p:nvPr>
            <p:ph type="body" idx="4"/>
          </p:nvPr>
        </p:nvSpPr>
        <p:spPr>
          <a:xfrm>
            <a:off x="256032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9" name="Google Shape;119;p10"/>
          <p:cNvSpPr>
            <a:spLocks noGrp="1"/>
          </p:cNvSpPr>
          <p:nvPr>
            <p:ph type="pic" idx="5"/>
          </p:nvPr>
        </p:nvSpPr>
        <p:spPr>
          <a:xfrm>
            <a:off x="470916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0"/>
          <p:cNvSpPr txBox="1">
            <a:spLocks noGrp="1"/>
          </p:cNvSpPr>
          <p:nvPr>
            <p:ph type="body" idx="6"/>
          </p:nvPr>
        </p:nvSpPr>
        <p:spPr>
          <a:xfrm>
            <a:off x="470916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1" name="Google Shape;121;p10"/>
          <p:cNvSpPr>
            <a:spLocks noGrp="1"/>
          </p:cNvSpPr>
          <p:nvPr>
            <p:ph type="pic" idx="7"/>
          </p:nvPr>
        </p:nvSpPr>
        <p:spPr>
          <a:xfrm>
            <a:off x="685800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"/>
          <p:cNvSpPr txBox="1">
            <a:spLocks noGrp="1"/>
          </p:cNvSpPr>
          <p:nvPr>
            <p:ph type="body" idx="8"/>
          </p:nvPr>
        </p:nvSpPr>
        <p:spPr>
          <a:xfrm>
            <a:off x="685800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Numbers">
  <p:cSld name="4 Numbers">
    <p:bg>
      <p:bgPr>
        <a:solidFill>
          <a:srgbClr val="221F2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7" name="Google Shape;127;p11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8" name="Google Shape;128;p11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0" name="Google Shape;130;p11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1" name="Google Shape;131;p11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2" name="Google Shape;132;p11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3" name="Google Shape;133;p11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4" name="Google Shape;134;p11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6" name="Google Shape;136;p11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7" name="Google Shape;137;p11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43" name="Google Shape;14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Numbers - White">
  <p:cSld name="4 Numbers - Whit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6" name="Google Shape;146;p12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7" name="Google Shape;147;p12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49" name="Google Shape;149;p12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0" name="Google Shape;150;p12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2" name="Google Shape;152;p12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3" name="Google Shape;153;p12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5" name="Google Shape;155;p12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6" name="Google Shape;156;p12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 Numbers">
  <p:cSld name="8 Numbers">
    <p:bg>
      <p:bgPr>
        <a:solidFill>
          <a:srgbClr val="221F2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13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3" name="Google Shape;163;p13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5" name="Google Shape;165;p13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6" name="Google Shape;166;p13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8" name="Google Shape;168;p13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9" name="Google Shape;169;p13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1" name="Google Shape;171;p13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2" name="Google Shape;172;p13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4" name="Google Shape;174;p13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5" name="Google Shape;175;p13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7" name="Google Shape;177;p13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8" name="Google Shape;178;p13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0" name="Google Shape;180;p13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1" name="Google Shape;181;p13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3" name="Google Shape;183;p13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4" name="Google Shape;184;p13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90" name="Google Shape;1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Numbers - White">
  <p:cSld name="8 Numbers - 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3" name="Google Shape;193;p14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4" name="Google Shape;194;p14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6" name="Google Shape;196;p14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7" name="Google Shape;197;p14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9" name="Google Shape;199;p14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0" name="Google Shape;200;p14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2" name="Google Shape;202;p14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3" name="Google Shape;203;p14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5" name="Google Shape;205;p14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6" name="Google Shape;206;p14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8" name="Google Shape;208;p14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9" name="Google Shape;209;p14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1" name="Google Shape;211;p14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2" name="Google Shape;212;p14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4" name="Google Shape;214;p14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5" name="Google Shape;215;p14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21" name="Google Shape;221;p1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1">
  <p:cSld name="Content and Image 0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1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2">
  <p:cSld name="Content and Image 0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>
            <a:spLocks noGrp="1"/>
          </p:cNvSpPr>
          <p:nvPr>
            <p:ph type="pic" idx="2"/>
          </p:nvPr>
        </p:nvSpPr>
        <p:spPr>
          <a:xfrm>
            <a:off x="411479" y="308610"/>
            <a:ext cx="8321040" cy="233172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33" name="Google Shape;233;p17"/>
          <p:cNvSpPr txBox="1">
            <a:spLocks noGrp="1"/>
          </p:cNvSpPr>
          <p:nvPr>
            <p:ph type="title"/>
          </p:nvPr>
        </p:nvSpPr>
        <p:spPr>
          <a:xfrm>
            <a:off x="411480" y="284607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body" idx="1"/>
          </p:nvPr>
        </p:nvSpPr>
        <p:spPr>
          <a:xfrm>
            <a:off x="4709159" y="2846070"/>
            <a:ext cx="40233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2 Images">
  <p:cSld name="Content and 2 Images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8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0" name="Google Shape;240;p18"/>
          <p:cNvSpPr txBox="1">
            <a:spLocks noGrp="1"/>
          </p:cNvSpPr>
          <p:nvPr>
            <p:ph type="body" idx="1"/>
          </p:nvPr>
        </p:nvSpPr>
        <p:spPr>
          <a:xfrm>
            <a:off x="411478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1" name="Google Shape;241;p18"/>
          <p:cNvSpPr txBox="1">
            <a:spLocks noGrp="1"/>
          </p:cNvSpPr>
          <p:nvPr>
            <p:ph type="body" idx="3"/>
          </p:nvPr>
        </p:nvSpPr>
        <p:spPr>
          <a:xfrm>
            <a:off x="41147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2" name="Google Shape;242;p18"/>
          <p:cNvSpPr>
            <a:spLocks noGrp="1"/>
          </p:cNvSpPr>
          <p:nvPr>
            <p:ph type="pic" idx="4"/>
          </p:nvPr>
        </p:nvSpPr>
        <p:spPr>
          <a:xfrm>
            <a:off x="470915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3" name="Google Shape;243;p18"/>
          <p:cNvSpPr txBox="1">
            <a:spLocks noGrp="1"/>
          </p:cNvSpPr>
          <p:nvPr>
            <p:ph type="body" idx="5"/>
          </p:nvPr>
        </p:nvSpPr>
        <p:spPr>
          <a:xfrm>
            <a:off x="4709159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body" idx="6"/>
          </p:nvPr>
        </p:nvSpPr>
        <p:spPr>
          <a:xfrm>
            <a:off x="470915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3 Images">
  <p:cSld name="Content and 3 Images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9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0" name="Google Shape;250;p19"/>
          <p:cNvSpPr txBox="1">
            <a:spLocks noGrp="1"/>
          </p:cNvSpPr>
          <p:nvPr>
            <p:ph type="body" idx="1"/>
          </p:nvPr>
        </p:nvSpPr>
        <p:spPr>
          <a:xfrm>
            <a:off x="411478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body" idx="3"/>
          </p:nvPr>
        </p:nvSpPr>
        <p:spPr>
          <a:xfrm>
            <a:off x="411479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2" name="Google Shape;252;p19"/>
          <p:cNvSpPr>
            <a:spLocks noGrp="1"/>
          </p:cNvSpPr>
          <p:nvPr>
            <p:ph type="pic" idx="4"/>
          </p:nvPr>
        </p:nvSpPr>
        <p:spPr>
          <a:xfrm>
            <a:off x="3278123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3" name="Google Shape;253;p19"/>
          <p:cNvSpPr txBox="1">
            <a:spLocks noGrp="1"/>
          </p:cNvSpPr>
          <p:nvPr>
            <p:ph type="body" idx="5"/>
          </p:nvPr>
        </p:nvSpPr>
        <p:spPr>
          <a:xfrm>
            <a:off x="3278123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4" name="Google Shape;254;p19"/>
          <p:cNvSpPr txBox="1">
            <a:spLocks noGrp="1"/>
          </p:cNvSpPr>
          <p:nvPr>
            <p:ph type="body" idx="6"/>
          </p:nvPr>
        </p:nvSpPr>
        <p:spPr>
          <a:xfrm>
            <a:off x="3278123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5" name="Google Shape;255;p19"/>
          <p:cNvSpPr>
            <a:spLocks noGrp="1"/>
          </p:cNvSpPr>
          <p:nvPr>
            <p:ph type="pic" idx="7"/>
          </p:nvPr>
        </p:nvSpPr>
        <p:spPr>
          <a:xfrm>
            <a:off x="6144767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6" name="Google Shape;256;p19"/>
          <p:cNvSpPr txBox="1">
            <a:spLocks noGrp="1"/>
          </p:cNvSpPr>
          <p:nvPr>
            <p:ph type="body" idx="8"/>
          </p:nvPr>
        </p:nvSpPr>
        <p:spPr>
          <a:xfrm>
            <a:off x="6144767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7" name="Google Shape;257;p19"/>
          <p:cNvSpPr txBox="1">
            <a:spLocks noGrp="1"/>
          </p:cNvSpPr>
          <p:nvPr>
            <p:ph type="body" idx="9"/>
          </p:nvPr>
        </p:nvSpPr>
        <p:spPr>
          <a:xfrm>
            <a:off x="6144767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8" name="Google Shape;258;p1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4 Images">
  <p:cSld name="Content and 4 Images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>
            <a:spLocks noGrp="1"/>
          </p:cNvSpPr>
          <p:nvPr>
            <p:ph type="pic" idx="2"/>
          </p:nvPr>
        </p:nvSpPr>
        <p:spPr>
          <a:xfrm>
            <a:off x="4114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3" name="Google Shape;263;p20"/>
          <p:cNvSpPr txBox="1">
            <a:spLocks noGrp="1"/>
          </p:cNvSpPr>
          <p:nvPr>
            <p:ph type="body" idx="1"/>
          </p:nvPr>
        </p:nvSpPr>
        <p:spPr>
          <a:xfrm>
            <a:off x="411480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body" idx="3"/>
          </p:nvPr>
        </p:nvSpPr>
        <p:spPr>
          <a:xfrm>
            <a:off x="4114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5" name="Google Shape;265;p20"/>
          <p:cNvSpPr>
            <a:spLocks noGrp="1"/>
          </p:cNvSpPr>
          <p:nvPr>
            <p:ph type="pic" idx="4"/>
          </p:nvPr>
        </p:nvSpPr>
        <p:spPr>
          <a:xfrm>
            <a:off x="2571604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6" name="Google Shape;266;p20"/>
          <p:cNvSpPr txBox="1">
            <a:spLocks noGrp="1"/>
          </p:cNvSpPr>
          <p:nvPr>
            <p:ph type="body" idx="5"/>
          </p:nvPr>
        </p:nvSpPr>
        <p:spPr>
          <a:xfrm>
            <a:off x="2571604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7" name="Google Shape;267;p20"/>
          <p:cNvSpPr txBox="1">
            <a:spLocks noGrp="1"/>
          </p:cNvSpPr>
          <p:nvPr>
            <p:ph type="body" idx="6"/>
          </p:nvPr>
        </p:nvSpPr>
        <p:spPr>
          <a:xfrm>
            <a:off x="2571604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8" name="Google Shape;268;p20"/>
          <p:cNvSpPr>
            <a:spLocks noGrp="1"/>
          </p:cNvSpPr>
          <p:nvPr>
            <p:ph type="pic" idx="7"/>
          </p:nvPr>
        </p:nvSpPr>
        <p:spPr>
          <a:xfrm>
            <a:off x="46978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9" name="Google Shape;269;p20"/>
          <p:cNvSpPr txBox="1">
            <a:spLocks noGrp="1"/>
          </p:cNvSpPr>
          <p:nvPr>
            <p:ph type="body" idx="8"/>
          </p:nvPr>
        </p:nvSpPr>
        <p:spPr>
          <a:xfrm>
            <a:off x="469788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9"/>
          </p:nvPr>
        </p:nvSpPr>
        <p:spPr>
          <a:xfrm>
            <a:off x="46978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1" name="Google Shape;271;p20"/>
          <p:cNvSpPr>
            <a:spLocks noGrp="1"/>
          </p:cNvSpPr>
          <p:nvPr>
            <p:ph type="pic" idx="13"/>
          </p:nvPr>
        </p:nvSpPr>
        <p:spPr>
          <a:xfrm>
            <a:off x="685800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72" name="Google Shape;272;p20"/>
          <p:cNvSpPr txBox="1">
            <a:spLocks noGrp="1"/>
          </p:cNvSpPr>
          <p:nvPr>
            <p:ph type="body" idx="14"/>
          </p:nvPr>
        </p:nvSpPr>
        <p:spPr>
          <a:xfrm>
            <a:off x="685800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3" name="Google Shape;273;p20"/>
          <p:cNvSpPr txBox="1">
            <a:spLocks noGrp="1"/>
          </p:cNvSpPr>
          <p:nvPr>
            <p:ph type="body" idx="15"/>
          </p:nvPr>
        </p:nvSpPr>
        <p:spPr>
          <a:xfrm>
            <a:off x="685800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4" name="Google Shape;274;p2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bg>
      <p:bgPr>
        <a:solidFill>
          <a:srgbClr val="221F20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79" name="Google Shape;279;p2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283" name="Google Shape;28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Image">
  <p:cSld name="Section Header - Image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565557"/>
          </a:solidFill>
          <a:ln>
            <a:noFill/>
          </a:ln>
        </p:spPr>
      </p:sp>
      <p:sp>
        <p:nvSpPr>
          <p:cNvPr id="286" name="Google Shape;286;p2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1">
  <p:cSld name="Section Header - White 01">
    <p:bg>
      <p:bgPr>
        <a:solidFill>
          <a:schemeClr val="lt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2">
  <p:cSld name="Section Header - White 02"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>
            <a:spLocks noGrp="1"/>
          </p:cNvSpPr>
          <p:nvPr>
            <p:ph type="title"/>
          </p:nvPr>
        </p:nvSpPr>
        <p:spPr>
          <a:xfrm>
            <a:off x="411481" y="308610"/>
            <a:ext cx="402399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4"/>
          <p:cNvSpPr txBox="1">
            <a:spLocks noGrp="1"/>
          </p:cNvSpPr>
          <p:nvPr>
            <p:ph type="body" idx="1"/>
          </p:nvPr>
        </p:nvSpPr>
        <p:spPr>
          <a:xfrm>
            <a:off x="411480" y="1200150"/>
            <a:ext cx="509635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9" name="Google Shape;299;p2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- Half Image">
  <p:cSld name="Section Header - Half Image">
    <p:bg>
      <p:bgPr>
        <a:solidFill>
          <a:srgbClr val="221F20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25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25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07" name="Google Shape;307;p2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09" name="Google Shape;30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Half Image - White">
  <p:cSld name="Section Header - Half Image - White">
    <p:bg>
      <p:bgPr>
        <a:solidFill>
          <a:schemeClr val="lt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13" name="Google Shape;313;p2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14" name="Google Shape;314;p2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- Black">
  <p:cSld name="Title Only - Black">
    <p:bg>
      <p:bgPr>
        <a:solidFill>
          <a:srgbClr val="221F20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26" name="Google Shape;326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2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- Black">
  <p:cSld name="Blank - Black">
    <p:bg>
      <p:bgPr>
        <a:solidFill>
          <a:srgbClr val="221F20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35" name="Google Shape;33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bg>
      <p:bgPr>
        <a:solidFill>
          <a:srgbClr val="221F20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1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FFCC0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/>
          </a:p>
        </p:txBody>
      </p:sp>
      <p:sp>
        <p:nvSpPr>
          <p:cNvPr id="338" name="Google Shape;338;p31"/>
          <p:cNvSpPr txBox="1">
            <a:spLocks noGrp="1"/>
          </p:cNvSpPr>
          <p:nvPr>
            <p:ph type="body" idx="1"/>
          </p:nvPr>
        </p:nvSpPr>
        <p:spPr>
          <a:xfrm>
            <a:off x="411164" y="3614561"/>
            <a:ext cx="4024312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339" name="Google Shape;339;p3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1" name="Google Shape;34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>
  <p:cSld name="Logo">
    <p:bg>
      <p:bgPr>
        <a:solidFill>
          <a:srgbClr val="221F20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2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20265" y="1645920"/>
            <a:ext cx="4903470" cy="185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6" name="Google Shape;34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3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3" name="Google Shape;353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5">
            <a:alphaModFix/>
          </a:blip>
          <a:srcRect l="26274" t="67"/>
          <a:stretch/>
        </p:blipFill>
        <p:spPr>
          <a:xfrm>
            <a:off x="7821386" y="308611"/>
            <a:ext cx="911133" cy="35827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9562" algn="l" rtl="0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1" descr="A picture containing icon&#10;&#10;AI-generated content may be incorrect.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7444515" y="318065"/>
            <a:ext cx="376871" cy="3582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5" pos="1018">
          <p15:clr>
            <a:srgbClr val="A4A3A4"/>
          </p15:clr>
        </p15:guide>
        <p15:guide id="6" pos="1248">
          <p15:clr>
            <a:srgbClr val="A4A3A4"/>
          </p15:clr>
        </p15:guide>
        <p15:guide id="7" pos="2148">
          <p15:clr>
            <a:srgbClr val="A4A3A4"/>
          </p15:clr>
        </p15:guide>
        <p15:guide id="8" pos="3052">
          <p15:clr>
            <a:srgbClr val="A4A3A4"/>
          </p15:clr>
        </p15:guide>
        <p15:guide id="9" pos="3954">
          <p15:clr>
            <a:srgbClr val="A4A3A4"/>
          </p15:clr>
        </p15:guide>
        <p15:guide id="10" pos="3724">
          <p15:clr>
            <a:srgbClr val="A4A3A4"/>
          </p15:clr>
        </p15:guide>
        <p15:guide id="11" pos="4858">
          <p15:clr>
            <a:srgbClr val="A4A3A4"/>
          </p15:clr>
        </p15:guide>
        <p15:guide id="12" pos="5784">
          <p15:clr>
            <a:srgbClr val="A4A3A4"/>
          </p15:clr>
        </p15:guide>
        <p15:guide id="13" pos="6660">
          <p15:clr>
            <a:srgbClr val="A4A3A4"/>
          </p15:clr>
        </p15:guide>
        <p15:guide id="14" pos="1920">
          <p15:clr>
            <a:srgbClr val="A4A3A4"/>
          </p15:clr>
        </p15:guide>
        <p15:guide id="15" pos="2822">
          <p15:clr>
            <a:srgbClr val="A4A3A4"/>
          </p15:clr>
        </p15:guide>
        <p15:guide id="16" pos="4626">
          <p15:clr>
            <a:srgbClr val="A4A3A4"/>
          </p15:clr>
        </p15:guide>
        <p15:guide id="17" pos="5530">
          <p15:clr>
            <a:srgbClr val="A4A3A4"/>
          </p15:clr>
        </p15:guide>
        <p15:guide id="18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70E2C-C69B-CF2A-4AFC-23A14A6A0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D8E2E-8543-A688-763B-E884BB31846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0D199-3936-A1F3-B0EB-089330973D5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6C0D10-A9D9-A711-D381-3D00C47E0FB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D0B74B-73C2-B2A1-57AF-63998F4A4F49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903D50-9478-61DD-97EF-868FFEC1A203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195E4-F595-93CB-A46C-7430AD0680AD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959FF5-1EE2-7B58-60C8-30418EF2E627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2EDCAF-FCD3-27B6-7A7D-482980E30A32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30A370C-AC35-54DB-180E-CF84A6DE97E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7" name="Google Shape;377;p39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>
                <a:solidFill>
                  <a:schemeClr val="bg1"/>
                </a:solidFill>
              </a:rPr>
              <a:t>Error Handling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375DF464-1047-E0FE-E481-3664C51B5C5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1E60D9-3A05-7A61-72B6-7F9C21F9F66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PYTHON ERRORS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E1484-2479-D5C8-C114-A85D1147D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2" name="Google Shape;472;p55"/>
          <p:cNvSpPr txBox="1"/>
          <p:nvPr/>
        </p:nvSpPr>
        <p:spPr>
          <a:xfrm>
            <a:off x="616150" y="1580550"/>
            <a:ext cx="7647000" cy="3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Errors are issues in a program that prevent it from running as expected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They help programmers find and fix mistakes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learn errors?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Errors help you debug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Knowing common errors makes writing and fixing code faster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Good programs handle errors gracefully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EXERCISE - PYTHON ERRORS</a:t>
            </a:r>
          </a:p>
        </p:txBody>
      </p:sp>
      <p:sp>
        <p:nvSpPr>
          <p:cNvPr id="478" name="Google Shape;478;p56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/>
            <a:r>
              <a:rPr lang="en-US"/>
              <a:t>5 minutes</a:t>
            </a:r>
          </a:p>
          <a:p>
            <a:pPr lvl="0"/>
            <a:endParaRPr lang="en-US"/>
          </a:p>
          <a:p>
            <a:pPr lvl="0"/>
            <a:r>
              <a:rPr lang="en-US"/>
              <a:t>Groups of 2-3</a:t>
            </a:r>
          </a:p>
          <a:p>
            <a:pPr lvl="0"/>
            <a:r>
              <a:rPr lang="en-US"/>
              <a:t>Research each python error and demonstrate an example case of when this error will be raised</a:t>
            </a:r>
          </a:p>
          <a:p>
            <a:pPr lvl="0"/>
            <a:r>
              <a:rPr lang="en-US"/>
              <a:t>SyntaxError</a:t>
            </a:r>
          </a:p>
          <a:p>
            <a:pPr lvl="0"/>
            <a:r>
              <a:rPr lang="en-US"/>
              <a:t>IndentationError</a:t>
            </a:r>
          </a:p>
          <a:p>
            <a:pPr lvl="0"/>
            <a:r>
              <a:rPr lang="en-US"/>
              <a:t>TypeError </a:t>
            </a:r>
          </a:p>
          <a:p>
            <a:pPr lvl="0"/>
            <a:r>
              <a:rPr lang="en-US"/>
              <a:t>ValueError</a:t>
            </a:r>
          </a:p>
          <a:p>
            <a:pPr lvl="0"/>
            <a:r>
              <a:rPr lang="en-US"/>
              <a:t>ZeroDivisionError</a:t>
            </a:r>
          </a:p>
          <a:p>
            <a:pPr lvl="0"/>
            <a:r>
              <a:rPr lang="en-US"/>
              <a:t>IndexError</a:t>
            </a:r>
          </a:p>
          <a:p>
            <a:pPr lvl="0"/>
            <a:r>
              <a:rPr lang="en-US"/>
              <a:t>KeyError</a:t>
            </a:r>
          </a:p>
          <a:p>
            <a:pPr lvl="0"/>
            <a:r>
              <a:rPr lang="en-US"/>
              <a:t>AttributeError</a:t>
            </a:r>
          </a:p>
          <a:p>
            <a:pPr lvl="0"/>
            <a:r>
              <a:rPr lang="en-US"/>
              <a:t>FileNotFoundError</a:t>
            </a:r>
          </a:p>
          <a:p>
            <a:pPr lvl="0"/>
            <a:r>
              <a:rPr lang="en-US"/>
              <a:t>ImportError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3" name="Google Shape;483;p57"/>
          <p:cNvGraphicFramePr/>
          <p:nvPr/>
        </p:nvGraphicFramePr>
        <p:xfrm>
          <a:off x="107150" y="712766"/>
          <a:ext cx="8991600" cy="3870630"/>
        </p:xfrm>
        <a:graphic>
          <a:graphicData uri="http://schemas.openxmlformats.org/drawingml/2006/table">
            <a:tbl>
              <a:tblPr>
                <a:noFill/>
                <a:tableStyleId>{5B9063A8-BC75-44AB-A561-BE0A82F3F6A3}</a:tableStyleId>
              </a:tblPr>
              <a:tblGrid>
                <a:gridCol w="255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When it Happens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Example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SyntaxError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 violates Python’s rules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Missing colon :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IndentationError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 has wrong indentation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Misaligned blocks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Wrong type used in operation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 int to str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Right type, wrong value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int("abc")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ZeroDivisionError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Dividing by zero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 / 0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 out of range in a sequence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list[5] with 3 items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Missing key in a dictionary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dict["missing"]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AttributeError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Attribute doesn’t exist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int.append()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FileNotFoundError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File does not exist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Open missing file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Cannot import a module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Wrong module name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27E4AC0-01EA-B511-D859-5692044DD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B3114-E828-3C64-0B4A-5DA874EBE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ERROR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36906-DDF6-4444-8642-3AB19FD9C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9" name="Google Shape;489;p58"/>
          <p:cNvSpPr txBox="1"/>
          <p:nvPr/>
        </p:nvSpPr>
        <p:spPr>
          <a:xfrm>
            <a:off x="606210" y="1570610"/>
            <a:ext cx="7647000" cy="3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Handle Errors?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Prevent your program from crashing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Provide helpful messages to users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 your code recover from unexpected situations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TRY - EXCEPT</a:t>
            </a:r>
          </a:p>
        </p:txBody>
      </p:sp>
      <p:sp>
        <p:nvSpPr>
          <p:cNvPr id="495" name="Google Shape;495;p59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Tries a block a code and if an error is raised, can handle that error neatly</a:t>
            </a:r>
          </a:p>
          <a:p>
            <a:pPr lvl="0"/>
            <a:r>
              <a:rPr lang="en-US"/>
              <a:t>Example:</a:t>
            </a:r>
          </a:p>
          <a:p>
            <a:pPr lvl="0"/>
            <a:endParaRPr lang="en-US">
              <a:sym typeface="Consolas"/>
            </a:endParaRPr>
          </a:p>
          <a:p>
            <a:pPr lvl="0"/>
            <a:r>
              <a:rPr lang="en-US">
                <a:sym typeface="Consolas"/>
              </a:rPr>
              <a:t>try:</a:t>
            </a:r>
          </a:p>
          <a:p>
            <a:pPr lvl="0"/>
            <a:r>
              <a:rPr lang="en-US">
                <a:sym typeface="Consolas"/>
              </a:rPr>
              <a:t>     # code that might cause an error</a:t>
            </a:r>
          </a:p>
          <a:p>
            <a:pPr lvl="0"/>
            <a:r>
              <a:rPr lang="en-US">
                <a:sym typeface="Consolas"/>
              </a:rPr>
              <a:t>     number = int("abc")</a:t>
            </a:r>
            <a:endParaRPr lang="en-US"/>
          </a:p>
          <a:p>
            <a:pPr lvl="0"/>
            <a:r>
              <a:rPr lang="en-US">
                <a:sym typeface="Consolas"/>
              </a:rPr>
              <a:t> except ValueError:</a:t>
            </a:r>
          </a:p>
          <a:p>
            <a:pPr lvl="0"/>
            <a:r>
              <a:rPr lang="en-US">
                <a:sym typeface="Consolas"/>
              </a:rPr>
              <a:t>     print("Oops! That wasn't a number.")</a:t>
            </a:r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TRY - EXCEPT CONTINUED</a:t>
            </a:r>
          </a:p>
        </p:txBody>
      </p:sp>
      <p:sp>
        <p:nvSpPr>
          <p:cNvPr id="501" name="Google Shape;501;p60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/>
            <a:r>
              <a:rPr lang="en-US"/>
              <a:t>Optional</a:t>
            </a:r>
          </a:p>
          <a:p>
            <a:pPr lvl="1"/>
            <a:r>
              <a:rPr lang="en-US">
                <a:sym typeface="Consolas"/>
              </a:rPr>
              <a:t>else</a:t>
            </a:r>
            <a:r>
              <a:rPr lang="en-US"/>
              <a:t>: Runs if no error occurs</a:t>
            </a:r>
          </a:p>
          <a:p>
            <a:pPr lvl="1"/>
            <a:r>
              <a:rPr lang="en-US">
                <a:sym typeface="Consolas"/>
              </a:rPr>
              <a:t>finally</a:t>
            </a:r>
            <a:r>
              <a:rPr lang="en-US"/>
              <a:t>: always runs</a:t>
            </a:r>
          </a:p>
          <a:p>
            <a:pPr lvl="1"/>
            <a:endParaRPr lang="en-US"/>
          </a:p>
          <a:p>
            <a:pPr lvl="0"/>
            <a:r>
              <a:rPr lang="en-US"/>
              <a:t>Example</a:t>
            </a:r>
          </a:p>
          <a:p>
            <a:pPr lvl="0"/>
            <a:r>
              <a:rPr lang="en-US">
                <a:sym typeface="Consolas"/>
              </a:rPr>
              <a:t>try:</a:t>
            </a:r>
          </a:p>
          <a:p>
            <a:pPr lvl="0"/>
            <a:r>
              <a:rPr lang="en-US">
                <a:sym typeface="Consolas"/>
              </a:rPr>
              <a:t>    result = 10 / 2</a:t>
            </a:r>
          </a:p>
          <a:p>
            <a:pPr lvl="0"/>
            <a:r>
              <a:rPr lang="en-US">
                <a:sym typeface="Consolas"/>
              </a:rPr>
              <a:t>except ZeroDivisionError:</a:t>
            </a:r>
          </a:p>
          <a:p>
            <a:pPr lvl="0"/>
            <a:r>
              <a:rPr lang="en-US">
                <a:sym typeface="Consolas"/>
              </a:rPr>
              <a:t>    print("Cannot divide by zero.")</a:t>
            </a:r>
          </a:p>
          <a:p>
            <a:pPr lvl="0"/>
            <a:r>
              <a:rPr lang="en-US">
                <a:sym typeface="Consolas"/>
              </a:rPr>
              <a:t>else:</a:t>
            </a:r>
          </a:p>
          <a:p>
            <a:pPr lvl="0"/>
            <a:r>
              <a:rPr lang="en-US">
                <a:sym typeface="Consolas"/>
              </a:rPr>
              <a:t>    print("Division successful.")</a:t>
            </a:r>
          </a:p>
          <a:p>
            <a:pPr lvl="0"/>
            <a:r>
              <a:rPr lang="en-US">
                <a:sym typeface="Consolas"/>
              </a:rPr>
              <a:t>finally:</a:t>
            </a:r>
          </a:p>
          <a:p>
            <a:pPr lvl="0"/>
            <a:r>
              <a:rPr lang="en-US">
                <a:sym typeface="Consolas"/>
              </a:rPr>
              <a:t>    print("Done.")</a:t>
            </a:r>
          </a:p>
          <a:p>
            <a:pPr lvl="0"/>
            <a:endParaRPr lang="en-US">
              <a:sym typeface="Consolas"/>
            </a:endParaRPr>
          </a:p>
          <a:p>
            <a:pPr lvl="0"/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RAISE</a:t>
            </a:r>
          </a:p>
        </p:txBody>
      </p:sp>
      <p:sp>
        <p:nvSpPr>
          <p:cNvPr id="507" name="Google Shape;507;p61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/>
            <a:r>
              <a:rPr lang="en-US"/>
              <a:t>“raise” is used to intentionally trigger an error</a:t>
            </a:r>
          </a:p>
          <a:p>
            <a:pPr lvl="0"/>
            <a:r>
              <a:rPr lang="en-US"/>
              <a:t>Helps enforce rules and catch problems early</a:t>
            </a:r>
          </a:p>
          <a:p>
            <a:pPr lvl="0"/>
            <a:r>
              <a:rPr lang="en-US"/>
              <a:t>Make your code more predictable and safe</a:t>
            </a:r>
          </a:p>
          <a:p>
            <a:pPr lvl="0"/>
            <a:r>
              <a:rPr lang="en-US"/>
              <a:t>Useful for custom error messages or defining your own exceptions</a:t>
            </a:r>
          </a:p>
          <a:p>
            <a:pPr lvl="0"/>
            <a:endParaRPr lang="en-US"/>
          </a:p>
          <a:p>
            <a:pPr lvl="0"/>
            <a:r>
              <a:rPr lang="en-US"/>
              <a:t>Syntax</a:t>
            </a:r>
          </a:p>
          <a:p>
            <a:pPr lvl="0"/>
            <a:endParaRPr lang="en-US">
              <a:sym typeface="Consolas"/>
            </a:endParaRPr>
          </a:p>
          <a:p>
            <a:pPr lvl="0"/>
            <a:r>
              <a:rPr lang="en-US">
                <a:sym typeface="Consolas"/>
              </a:rPr>
              <a:t>if age &lt; 0:</a:t>
            </a:r>
          </a:p>
          <a:p>
            <a:pPr lvl="0"/>
            <a:r>
              <a:rPr lang="en-US">
                <a:sym typeface="Consolas"/>
              </a:rPr>
              <a:t>raise ValueError("Age cannot be negative.")</a:t>
            </a:r>
          </a:p>
          <a:p>
            <a:pPr lvl="0"/>
            <a:endParaRPr lang="en-US">
              <a:sym typeface="Consolas"/>
            </a:endParaRPr>
          </a:p>
          <a:p>
            <a:pPr lvl="0"/>
            <a:r>
              <a:rPr lang="en-US"/>
              <a:t>Built-in Exceptions</a:t>
            </a:r>
          </a:p>
          <a:p>
            <a:pPr lvl="0"/>
            <a:r>
              <a:rPr lang="en-US">
                <a:sym typeface="Consolas"/>
              </a:rPr>
              <a:t>raise TypeError("This function only accepts strings.")</a:t>
            </a:r>
          </a:p>
          <a:p>
            <a:pPr lvl="0"/>
            <a:r>
              <a:rPr lang="en-US">
                <a:sym typeface="Consolas"/>
              </a:rPr>
              <a:t>raise ZeroDivisionError("Cannot divide by zero.")</a:t>
            </a:r>
          </a:p>
          <a:p>
            <a:pPr lvl="0"/>
            <a:endParaRPr lang="en-US">
              <a:sym typeface="Consolas"/>
            </a:endParaRPr>
          </a:p>
          <a:p>
            <a:pPr lvl="0"/>
            <a:endParaRPr lang="en-US"/>
          </a:p>
          <a:p>
            <a:pPr lvl="0"/>
            <a:r>
              <a:rPr lang="en-US"/>
              <a:t>Raised errors can be caught and handled with try / except</a:t>
            </a:r>
          </a:p>
          <a:p>
            <a:pPr lvl="0"/>
            <a:r>
              <a:rPr lang="en-US"/>
              <a:t>If not caught, they will be passed to the output and stop the program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FINAL CODING EXERCISE</a:t>
            </a:r>
          </a:p>
        </p:txBody>
      </p:sp>
      <p:sp>
        <p:nvSpPr>
          <p:cNvPr id="513" name="Google Shape;513;p62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/>
            <a:r>
              <a:rPr lang="en-US"/>
              <a:t>20 min </a:t>
            </a:r>
          </a:p>
          <a:p>
            <a:pPr lvl="0"/>
            <a:endParaRPr lang="en-US"/>
          </a:p>
          <a:p>
            <a:pPr lvl="0"/>
            <a:r>
              <a:rPr lang="en-US"/>
              <a:t>Write a block of code that takes in user input until they guess the random number</a:t>
            </a:r>
          </a:p>
          <a:p>
            <a:pPr lvl="0"/>
            <a:r>
              <a:rPr lang="en-US"/>
              <a:t>Prompt the user to help them with their guess</a:t>
            </a:r>
          </a:p>
          <a:p>
            <a:pPr lvl="0"/>
            <a:r>
              <a:rPr lang="en-US"/>
              <a:t>Handle the following situations</a:t>
            </a:r>
          </a:p>
          <a:p>
            <a:pPr lvl="0"/>
            <a:r>
              <a:rPr lang="en-US"/>
              <a:t>User does not input the right python data type</a:t>
            </a:r>
          </a:p>
          <a:p>
            <a:pPr lvl="0"/>
            <a:r>
              <a:rPr lang="en-US"/>
              <a:t>User inputs a negative number</a:t>
            </a:r>
          </a:p>
          <a:p>
            <a:pPr lvl="0"/>
            <a:r>
              <a:rPr lang="en-US"/>
              <a:t>User inputs a number outside the guess range</a:t>
            </a:r>
          </a:p>
          <a:p>
            <a:pPr lvl="0"/>
            <a:r>
              <a:rPr lang="en-US"/>
              <a:t>Hint: use random.randomint() to generate a random number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FINAL CODING EXERCISE</a:t>
            </a:r>
          </a:p>
        </p:txBody>
      </p:sp>
      <p:sp>
        <p:nvSpPr>
          <p:cNvPr id="519" name="Google Shape;519;p63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/>
            <a:r>
              <a:rPr lang="en-US"/>
              <a:t>20 min </a:t>
            </a:r>
          </a:p>
          <a:p>
            <a:pPr lvl="0"/>
            <a:r>
              <a:rPr lang="en-US"/>
              <a:t>Given a list of numbers, write a program that:</a:t>
            </a:r>
          </a:p>
          <a:p>
            <a:pPr lvl="0"/>
            <a:r>
              <a:rPr lang="en-US"/>
              <a:t>Loops through the list</a:t>
            </a:r>
          </a:p>
          <a:p>
            <a:pPr lvl="0"/>
            <a:r>
              <a:rPr lang="en-US"/>
              <a:t>Skips any None values or non-integer types with an error message using try/except</a:t>
            </a:r>
          </a:p>
          <a:p>
            <a:pPr lvl="0"/>
            <a:r>
              <a:rPr lang="en-US"/>
              <a:t>Raises a ValueError if it finds a negative number (stops the program)</a:t>
            </a:r>
          </a:p>
          <a:p>
            <a:pPr lvl="0"/>
            <a:r>
              <a:rPr lang="en-US"/>
              <a:t>Collects all valid positive integers into a new list</a:t>
            </a:r>
          </a:p>
          <a:p>
            <a:pPr lvl="0"/>
            <a:r>
              <a:rPr lang="en-US"/>
              <a:t>Prints the new list and the sum of its numbers</a:t>
            </a:r>
          </a:p>
          <a:p>
            <a:pPr lvl="0"/>
            <a:r>
              <a:rPr lang="en-US"/>
              <a:t>List: </a:t>
            </a:r>
            <a:r>
              <a:rPr lang="en-US">
                <a:sym typeface="Consolas"/>
              </a:rPr>
              <a:t>[10, -5, 20, ‘hello’, 5.2, 15, None, 30]</a:t>
            </a:r>
          </a:p>
          <a:p>
            <a:pPr lvl="0"/>
            <a:r>
              <a:rPr lang="en-US"/>
              <a:t>Once you have a solution, remove -5 from the list and run it again.</a:t>
            </a:r>
          </a:p>
          <a:p>
            <a:pPr lvl="0"/>
            <a:r>
              <a:rPr lang="en-US"/>
              <a:t>Hints:  </a:t>
            </a:r>
          </a:p>
          <a:p>
            <a:pPr lvl="0"/>
            <a:r>
              <a:rPr lang="en-US"/>
              <a:t>Use </a:t>
            </a:r>
            <a:r>
              <a:rPr lang="en-US">
                <a:sym typeface="Consolas"/>
              </a:rPr>
              <a:t>isinstance(item, int) </a:t>
            </a:r>
            <a:r>
              <a:rPr lang="en-US"/>
              <a:t>to check types</a:t>
            </a:r>
          </a:p>
          <a:p>
            <a:pPr lvl="0"/>
            <a:r>
              <a:rPr lang="en-US"/>
              <a:t>Build the valid list as you go</a:t>
            </a:r>
            <a:endParaRPr lang="en-US"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591</Words>
  <Application>Microsoft Office PowerPoint</Application>
  <PresentationFormat>On-screen Show (16:9)</PresentationFormat>
  <Paragraphs>127</Paragraphs>
  <Slides>10</Slides>
  <Notes>10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Roboto</vt:lpstr>
      <vt:lpstr>Consolas</vt:lpstr>
      <vt:lpstr>US Army 2023 AFC DEVCOM Logo</vt:lpstr>
      <vt:lpstr>Error Handling</vt:lpstr>
      <vt:lpstr>PYTHON ERRORS</vt:lpstr>
      <vt:lpstr>EXERCISE - PYTHON ERRORS</vt:lpstr>
      <vt:lpstr>PowerPoint Presentation</vt:lpstr>
      <vt:lpstr>ERROR HANDLING</vt:lpstr>
      <vt:lpstr>TRY - EXCEPT</vt:lpstr>
      <vt:lpstr>TRY - EXCEPT CONTINUED</vt:lpstr>
      <vt:lpstr>RAISE</vt:lpstr>
      <vt:lpstr>FINAL CODING EXERCISE</vt:lpstr>
      <vt:lpstr>FINAL CODING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26</cp:revision>
  <dcterms:modified xsi:type="dcterms:W3CDTF">2026-05-05T21:03:52Z</dcterms:modified>
</cp:coreProperties>
</file>