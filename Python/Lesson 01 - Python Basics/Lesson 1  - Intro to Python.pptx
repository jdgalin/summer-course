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3" r:id="rId1"/>
  </p:sldMasterIdLst>
  <p:notesMasterIdLst>
    <p:notesMasterId r:id="rId44"/>
  </p:notesMasterIdLst>
  <p:sldIdLst>
    <p:sldId id="299" r:id="rId2"/>
    <p:sldId id="303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314" r:id="rId12"/>
    <p:sldId id="315" r:id="rId13"/>
    <p:sldId id="317" r:id="rId14"/>
    <p:sldId id="318" r:id="rId15"/>
    <p:sldId id="319" r:id="rId16"/>
    <p:sldId id="316" r:id="rId17"/>
    <p:sldId id="320" r:id="rId18"/>
    <p:sldId id="322" r:id="rId19"/>
    <p:sldId id="323" r:id="rId20"/>
    <p:sldId id="321" r:id="rId21"/>
    <p:sldId id="302" r:id="rId22"/>
    <p:sldId id="304" r:id="rId23"/>
    <p:sldId id="276" r:id="rId24"/>
    <p:sldId id="305" r:id="rId25"/>
    <p:sldId id="277" r:id="rId26"/>
    <p:sldId id="300" r:id="rId27"/>
    <p:sldId id="284" r:id="rId28"/>
    <p:sldId id="291" r:id="rId29"/>
    <p:sldId id="292" r:id="rId30"/>
    <p:sldId id="285" r:id="rId31"/>
    <p:sldId id="306" r:id="rId32"/>
    <p:sldId id="301" r:id="rId33"/>
    <p:sldId id="308" r:id="rId34"/>
    <p:sldId id="287" r:id="rId35"/>
    <p:sldId id="307" r:id="rId36"/>
    <p:sldId id="293" r:id="rId37"/>
    <p:sldId id="309" r:id="rId38"/>
    <p:sldId id="289" r:id="rId39"/>
    <p:sldId id="310" r:id="rId40"/>
    <p:sldId id="311" r:id="rId41"/>
    <p:sldId id="312" r:id="rId42"/>
    <p:sldId id="313" r:id="rId4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BDE71D-A5DA-4731-8206-4FC7E790C503}">
  <a:tblStyle styleId="{20BDE71D-A5DA-4731-8206-4FC7E790C503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A323327-17F7-4230-B99A-3A7D3BBB913F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02"/>
    <p:restoredTop sz="88629" autoAdjust="0"/>
  </p:normalViewPr>
  <p:slideViewPr>
    <p:cSldViewPr snapToGrid="0">
      <p:cViewPr varScale="1">
        <p:scale>
          <a:sx n="129" d="100"/>
          <a:sy n="129" d="100"/>
        </p:scale>
        <p:origin x="1278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64a009736c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64a009736c_2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4a009736c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64a009736c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Take 3-5 minutes to let people download Python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64a009736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64a009736c_2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4a009736c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64a009736c_2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Give 3-5 minutes for download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64a009736c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8" name="Google Shape;228;g364a009736c_2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64a009736c_2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64a009736c_2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64a009736c_2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g364a009736c_2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CEB98131-FC7F-1A21-D059-38752821D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88E5B73D-8888-3A55-B5CA-21AC60CD41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6671704B-6B97-996B-1A73-08EE501E74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49051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BF7CD58D-AA99-2D4E-418D-F448130B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E624D76C-265A-699E-4ABA-59E8264174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7FD124F8-F1DC-6CA1-8F51-38D352F63E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5950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6D92B1AD-7EBD-AF94-FD01-F243CFBB4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D923C959-1751-241C-F26A-EEBDB4D2AD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C58F478C-9E38-5705-19CE-532B7C73A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6479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3779FBA9-C2C0-FDE2-2607-507A1F1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F28A3232-8720-D270-4C79-4A806EB242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33F639CC-982A-19E5-FF77-11852B19F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64488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D3F6B0E8-BC63-2F74-3659-05F57ABB4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E821C97D-38B9-2361-C29A-7A7538768B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7CCB4817-B745-D82E-9704-7AAA0E07E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638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F8028C3B-253C-B182-F567-7DD57F8E8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A42A95B1-C817-03C1-E236-6919306AF8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ED415392-6612-E393-5C14-46785F7ADF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8484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24BFAA10-D4F3-876C-85B5-07519BC70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23B12004-ABA3-917A-8855-9D1E3D7F9E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B5994286-8906-C05C-6C96-E9128B31D6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1522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308DBC9B-3C2D-687B-860E-280AA97B6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191916EF-D68F-32FF-FFF7-7161239FB8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4AE1BAD8-782A-BCA3-D6B7-267B81265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39223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04716DC9-C8B4-9F73-7003-3B7D8CA8D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>
            <a:extLst>
              <a:ext uri="{FF2B5EF4-FFF2-40B4-BE49-F238E27FC236}">
                <a16:creationId xmlns:a16="http://schemas.microsoft.com/office/drawing/2014/main" id="{7179A8BD-D72B-17C3-44BC-06F2F61922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>
            <a:extLst>
              <a:ext uri="{FF2B5EF4-FFF2-40B4-BE49-F238E27FC236}">
                <a16:creationId xmlns:a16="http://schemas.microsoft.com/office/drawing/2014/main" id="{F5D984FA-6573-75F7-EB96-406932933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6880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4543D9CC-7E56-CC55-4FF8-9BB5116A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64a009736c_2_187:notes">
            <a:extLst>
              <a:ext uri="{FF2B5EF4-FFF2-40B4-BE49-F238E27FC236}">
                <a16:creationId xmlns:a16="http://schemas.microsoft.com/office/drawing/2014/main" id="{2BDAE34B-4BF1-52EA-A461-957F86987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64a009736c_2_187:notes">
            <a:extLst>
              <a:ext uri="{FF2B5EF4-FFF2-40B4-BE49-F238E27FC236}">
                <a16:creationId xmlns:a16="http://schemas.microsoft.com/office/drawing/2014/main" id="{D66910F0-4EC2-4D73-EF29-4687A9FB1F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18096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64a009736c_2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64a009736c_2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64a009736c_2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g364a009736c_2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dirty="0"/>
              <a:t>binary_demo.py</a:t>
            </a:r>
          </a:p>
          <a:p>
            <a:pPr marL="15875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2883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64a009736c_2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364a009736c_2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“18”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Age2 = “19”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Sum_of_ages = age1 + age2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Print(sum_of_ages) --🡪 1819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Let’s say I want to use how old you will be in 4 years.  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Num = int(age1) + int(age2)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Print(num) --🡪 37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Print(type(num1))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int(age1)  &lt;&lt;&lt; now age1 is an integer because we overwrote it.</a:t>
            </a:r>
            <a:endParaRPr/>
          </a:p>
        </p:txBody>
      </p:sp>
      <p:sp>
        <p:nvSpPr>
          <p:cNvPr id="310" name="Google Shape;310;g364a009736c_2_2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64a009736c_2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g364a009736c_2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64a009736c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g364a009736c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PEMDAS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Please Excuse My Dear Aunt Sally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Parentheses, Exponent, Multiply/Divide, Add/Subtract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9" name="Google Shape;369;g364a009736c_2_2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a009736c_2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64a009736c_2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317" name="Google Shape;317;g364a009736c_2_2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64a009736c_2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g364a009736c_2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>
          <a:extLst>
            <a:ext uri="{FF2B5EF4-FFF2-40B4-BE49-F238E27FC236}">
              <a16:creationId xmlns:a16="http://schemas.microsoft.com/office/drawing/2014/main" id="{3AD028B9-EF2E-39CC-8555-E5F64A55D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a009736c_2_236:notes">
            <a:extLst>
              <a:ext uri="{FF2B5EF4-FFF2-40B4-BE49-F238E27FC236}">
                <a16:creationId xmlns:a16="http://schemas.microsoft.com/office/drawing/2014/main" id="{FBFC26D6-1573-BE95-405B-F3C7BB10E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64a009736c_2_236:notes">
            <a:extLst>
              <a:ext uri="{FF2B5EF4-FFF2-40B4-BE49-F238E27FC236}">
                <a16:creationId xmlns:a16="http://schemas.microsoft.com/office/drawing/2014/main" id="{E548D4FE-6C3E-078F-0EAE-CD7ACC04C0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317" name="Google Shape;317;g364a009736c_2_236:notes">
            <a:extLst>
              <a:ext uri="{FF2B5EF4-FFF2-40B4-BE49-F238E27FC236}">
                <a16:creationId xmlns:a16="http://schemas.microsoft.com/office/drawing/2014/main" id="{6EF7C67B-0491-C73F-72D3-D4A8999C7E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83946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64a009736c_2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64a009736c_2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6" name="Google Shape;376;g364a009736c_2_2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>
          <a:extLst>
            <a:ext uri="{FF2B5EF4-FFF2-40B4-BE49-F238E27FC236}">
              <a16:creationId xmlns:a16="http://schemas.microsoft.com/office/drawing/2014/main" id="{EFAE6C7F-0239-263C-40F0-4409AE397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64a009736c_2_287:notes">
            <a:extLst>
              <a:ext uri="{FF2B5EF4-FFF2-40B4-BE49-F238E27FC236}">
                <a16:creationId xmlns:a16="http://schemas.microsoft.com/office/drawing/2014/main" id="{A7F07626-F769-63ED-A8C5-D934B2163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64a009736c_2_287:notes">
            <a:extLst>
              <a:ext uri="{FF2B5EF4-FFF2-40B4-BE49-F238E27FC236}">
                <a16:creationId xmlns:a16="http://schemas.microsoft.com/office/drawing/2014/main" id="{3A56F53B-8AFE-75CA-FB1B-B69C1DE07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6" name="Google Shape;376;g364a009736c_2_287:notes">
            <a:extLst>
              <a:ext uri="{FF2B5EF4-FFF2-40B4-BE49-F238E27FC236}">
                <a16:creationId xmlns:a16="http://schemas.microsoft.com/office/drawing/2014/main" id="{E4C97AA2-01B3-E850-B0A7-96445DCBC7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02296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64a009736c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g364a009736c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>
          <a:extLst>
            <a:ext uri="{FF2B5EF4-FFF2-40B4-BE49-F238E27FC236}">
              <a16:creationId xmlns:a16="http://schemas.microsoft.com/office/drawing/2014/main" id="{59A83625-484F-5D61-8522-8B0BB15B9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64a009736c_2_257:notes">
            <a:extLst>
              <a:ext uri="{FF2B5EF4-FFF2-40B4-BE49-F238E27FC236}">
                <a16:creationId xmlns:a16="http://schemas.microsoft.com/office/drawing/2014/main" id="{5675A772-7D01-1B11-A419-3EDB6C5CA3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1" name="Google Shape;341;g364a009736c_2_257:notes">
            <a:extLst>
              <a:ext uri="{FF2B5EF4-FFF2-40B4-BE49-F238E27FC236}">
                <a16:creationId xmlns:a16="http://schemas.microsoft.com/office/drawing/2014/main" id="{19FEA6A7-605F-6E9C-6CDE-918C2FC3D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119448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>
          <a:extLst>
            <a:ext uri="{FF2B5EF4-FFF2-40B4-BE49-F238E27FC236}">
              <a16:creationId xmlns:a16="http://schemas.microsoft.com/office/drawing/2014/main" id="{D1DB388B-D8C8-B7AF-DA4A-2E2170DE5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a009736c_2_236:notes">
            <a:extLst>
              <a:ext uri="{FF2B5EF4-FFF2-40B4-BE49-F238E27FC236}">
                <a16:creationId xmlns:a16="http://schemas.microsoft.com/office/drawing/2014/main" id="{1E842EB0-6396-B037-9E7A-18381198AE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64a009736c_2_236:notes">
            <a:extLst>
              <a:ext uri="{FF2B5EF4-FFF2-40B4-BE49-F238E27FC236}">
                <a16:creationId xmlns:a16="http://schemas.microsoft.com/office/drawing/2014/main" id="{AB152011-E51C-8072-EF4C-FA66B157A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317" name="Google Shape;317;g364a009736c_2_236:notes">
            <a:extLst>
              <a:ext uri="{FF2B5EF4-FFF2-40B4-BE49-F238E27FC236}">
                <a16:creationId xmlns:a16="http://schemas.microsoft.com/office/drawing/2014/main" id="{B49F4616-5FAB-B511-3493-CA05E7313D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119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1 June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492842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1 June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112161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1 June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333424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0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486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1 June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1 June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15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1 June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4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1 June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9152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1 June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82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1 June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028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1 June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090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99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8616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1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1 June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4730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1 June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298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1 June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21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1988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4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60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424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1 June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21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1 June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1612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26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0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1 June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482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1 June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331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1 June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83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332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881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44069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9131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1 June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36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  <p:sldLayoutId id="2147483704" r:id="rId31"/>
    <p:sldLayoutId id="2147483705" r:id="rId32"/>
    <p:sldLayoutId id="2147483706" r:id="rId33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hyperlink" Target="https://www.codependentcodr.com/building-a-vs-code-extension-without-installing-node-by-docker-magic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git-scm.com/" TargetMode="External"/><Relationship Id="rId4" Type="http://schemas.openxmlformats.org/officeDocument/2006/relationships/hyperlink" Target="https://github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FC-AI2C/summer-course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28411-1094-C1F5-1084-577812B5A6F7}"/>
              </a:ext>
            </a:extLst>
          </p:cNvPr>
          <p:cNvSpPr>
            <a:spLocks noGrp="1"/>
          </p:cNvSpPr>
          <p:nvPr>
            <p:ph type="dt" sz="half" idx="49"/>
          </p:nvPr>
        </p:nvSpPr>
        <p:spPr>
          <a:xfrm>
            <a:off x="410766" y="4972050"/>
            <a:ext cx="617934" cy="1714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1EB7E-576C-73E8-5B5F-2697010DCCAA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>
          <a:xfrm>
            <a:off x="8408037" y="4972050"/>
            <a:ext cx="331501" cy="171450"/>
          </a:xfrm>
        </p:spPr>
        <p:txBody>
          <a:bodyPr/>
          <a:lstStyle/>
          <a:p>
            <a:pPr lvl="0"/>
            <a:fld id="{00000000-1234-1234-1234-123412341234}" type="slidenum">
              <a:rPr lang="en" smtClean="0"/>
              <a:pPr lvl="0"/>
              <a:t>1</a:t>
            </a:fld>
            <a:endParaRPr lang="en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07F7BEF-9C77-B531-8DE5-B514C4F255FC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104BDAF-E6C5-CA91-DC9C-A162E083C2A3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E90EFF7-7E65-D2A7-19E4-C6FBAF35D12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127C14C-A7BB-77BF-7FCB-ABE76EC0891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A0E9230-4B26-A842-0D16-588E614B3AA7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068E0ED6-2B28-5CA4-A30B-CCCA36DD64D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2964EDCB-FE00-1333-42BB-13D75D45210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E248C6A0-ED75-EDBB-12BD-494DD21F8FB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8CEE4DC2-09B5-3CCD-457B-6B4790DECE3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C90EB5AB-E609-F5DD-EB53-4B56B810D3C3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9E14C3F-58F5-2F80-022C-87483A4790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652115"/>
            <a:ext cx="4822031" cy="994410"/>
          </a:xfrm>
        </p:spPr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74F79F2D-9AB0-807C-BF93-1082689FCD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DFCABD0-D84B-718A-39EB-8F3061855B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457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0A22D-68A3-E9A5-CD56-480007C21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002F6FC-727C-3EEE-67C4-23B1FD72DD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10A1340-CE28-C670-A516-F6A70B8050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4125D7-D447-4FE8-E456-399814B620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A08D5-2EB0-4E21-A836-11205D7997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86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AI2C Technician Cohort 7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23F63-0F1F-C732-32C1-147BBBC04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</p:spPr>
        <p:txBody>
          <a:bodyPr/>
          <a:lstStyle/>
          <a:p>
            <a:r>
              <a:rPr lang="en" dirty="0"/>
              <a:t>Lesson 1 – Intro to Python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Let’s download Python</a:t>
            </a:r>
          </a:p>
        </p:txBody>
      </p:sp>
      <p:sp>
        <p:nvSpPr>
          <p:cNvPr id="211" name="Google Shape;211;p39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If you haven’t already… go to </a:t>
            </a:r>
            <a:r>
              <a:rPr lang="en-US" dirty="0" err="1"/>
              <a:t>python.org</a:t>
            </a:r>
            <a:r>
              <a:rPr lang="en-US" dirty="0"/>
              <a:t> and download the latest release of Python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pic>
        <p:nvPicPr>
          <p:cNvPr id="212" name="Google Shape;212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6868" y="2220998"/>
            <a:ext cx="6530264" cy="2613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Verify the download</a:t>
            </a:r>
          </a:p>
        </p:txBody>
      </p:sp>
      <p:sp>
        <p:nvSpPr>
          <p:cNvPr id="218" name="Google Shape;218;p40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/>
            <a:r>
              <a:rPr lang="en-US" dirty="0"/>
              <a:t>Open a command prompt and type in “python”.  Your terminal should indicate it is running Python with the “&gt;&gt;&gt;”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r>
              <a:rPr lang="en-US" dirty="0"/>
              <a:t>Run a few basic commands. </a:t>
            </a:r>
          </a:p>
          <a:p>
            <a:pPr lvl="0"/>
            <a:r>
              <a:rPr lang="en-US" dirty="0"/>
              <a:t>	x = 5</a:t>
            </a:r>
          </a:p>
          <a:p>
            <a:pPr lvl="0"/>
            <a:r>
              <a:rPr lang="en-US" dirty="0"/>
              <a:t>	x+2</a:t>
            </a:r>
          </a:p>
        </p:txBody>
      </p:sp>
      <p:pic>
        <p:nvPicPr>
          <p:cNvPr id="219" name="Google Shape;219;p40" descr="Text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1" t="984" r="18696" b="49830"/>
          <a:stretch/>
        </p:blipFill>
        <p:spPr>
          <a:xfrm>
            <a:off x="1433221" y="1841500"/>
            <a:ext cx="5780380" cy="18021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Interactive Python</a:t>
            </a:r>
          </a:p>
        </p:txBody>
      </p:sp>
      <p:sp>
        <p:nvSpPr>
          <p:cNvPr id="225" name="Google Shape;225;p41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Running Python in the terminal like this is great way to interactively see what individual lines of code do but…</a:t>
            </a:r>
          </a:p>
          <a:p>
            <a:pPr lvl="0"/>
            <a:endParaRPr lang="en-US" dirty="0"/>
          </a:p>
          <a:p>
            <a:r>
              <a:rPr lang="en-US" dirty="0"/>
              <a:t>Oftentimes we want to run dozens (or hundreds) of lines of code at a time.  For this, we want to write python scripts.</a:t>
            </a:r>
          </a:p>
          <a:p>
            <a:endParaRPr lang="en-US" dirty="0"/>
          </a:p>
          <a:p>
            <a:r>
              <a:rPr lang="en-US" dirty="0"/>
              <a:t>It would also be nice if there was software that would help us write and manage code, have useful plugins, be integrated with AI,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/>
              <a:t>We need an Integrated Development Environment (IDE)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 dirty="0"/>
              <a:t>Integrated Development Environments (IDE)</a:t>
            </a:r>
          </a:p>
        </p:txBody>
      </p:sp>
      <p:sp>
        <p:nvSpPr>
          <p:cNvPr id="231" name="Google Shape;231;p42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There are many IDEs that can help you write and manage code. </a:t>
            </a:r>
          </a:p>
        </p:txBody>
      </p:sp>
      <p:pic>
        <p:nvPicPr>
          <p:cNvPr id="232" name="Google Shape;232;p42" descr="Visual Studio Code - Wikiped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0345" y="2284190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5755" y="2284192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282" y="2284191"/>
            <a:ext cx="2196182" cy="1768409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sp>
        <p:nvSpPr>
          <p:cNvPr id="235" name="Google Shape;235;p42"/>
          <p:cNvSpPr txBox="1"/>
          <p:nvPr/>
        </p:nvSpPr>
        <p:spPr>
          <a:xfrm>
            <a:off x="641350" y="4465557"/>
            <a:ext cx="22530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Visual Studio Code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6" name="Google Shape;236;p42"/>
          <p:cNvSpPr txBox="1"/>
          <p:nvPr/>
        </p:nvSpPr>
        <p:spPr>
          <a:xfrm>
            <a:off x="3961226" y="4465557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PyCharm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7040736" y="4407065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Notepad++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Visual Studio Code</a:t>
            </a:r>
          </a:p>
        </p:txBody>
      </p:sp>
      <p:sp>
        <p:nvSpPr>
          <p:cNvPr id="242" name="Google Shape;242;p43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We use VS Code in AI2C, and you will use it for classes at CMU.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VS Code has great version control management built in and many great plug-ins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Take a few minutes to download VS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Running code in VS Code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E27E1E-4344-49AD-12D8-B7FB401A04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1480" y="1611630"/>
            <a:ext cx="3422583" cy="3017520"/>
          </a:xfrm>
        </p:spPr>
        <p:txBody>
          <a:bodyPr/>
          <a:lstStyle/>
          <a:p>
            <a:r>
              <a:rPr lang="en-US" dirty="0"/>
              <a:t>Give a quick tutorial on VS Code:</a:t>
            </a:r>
          </a:p>
          <a:p>
            <a:r>
              <a:rPr lang="en-US" dirty="0"/>
              <a:t>	- File Explorer</a:t>
            </a:r>
          </a:p>
          <a:p>
            <a:r>
              <a:rPr lang="en-US" dirty="0"/>
              <a:t>	- Terminal in VS Code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D68B15CE-96CE-F60B-B4C7-BD6F827027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150453" y="1151221"/>
            <a:ext cx="4906798" cy="3683668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/>
              <a:t>Saving Code on the Internet and version control?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9B81FB1-8F8E-2FF9-F09D-A7E77E215A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11163" y="1384189"/>
            <a:ext cx="4024312" cy="306092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E02F45-AFB6-CAA8-8618-ACCB966647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sz="1600" dirty="0"/>
          </a:p>
          <a:p>
            <a:r>
              <a:rPr lang="en-US" sz="1600" dirty="0"/>
              <a:t>Go to </a:t>
            </a:r>
            <a:r>
              <a:rPr lang="en-US" sz="1600" dirty="0">
                <a:hlinkClick r:id="rId4"/>
              </a:rPr>
              <a:t>https://github.com</a:t>
            </a:r>
            <a:r>
              <a:rPr lang="en-US" sz="1600" dirty="0"/>
              <a:t> and setup a </a:t>
            </a:r>
            <a:r>
              <a:rPr lang="en-US" sz="1600" dirty="0" err="1"/>
              <a:t>github</a:t>
            </a:r>
            <a:r>
              <a:rPr lang="en-US" sz="1600" dirty="0"/>
              <a:t> account.</a:t>
            </a:r>
          </a:p>
          <a:p>
            <a:r>
              <a:rPr lang="en-US" sz="1600" dirty="0"/>
              <a:t>Also download git at </a:t>
            </a:r>
            <a:r>
              <a:rPr lang="en-US" sz="1600" dirty="0">
                <a:hlinkClick r:id="rId5"/>
              </a:rPr>
              <a:t>https://git-scm.com</a:t>
            </a:r>
            <a:r>
              <a:rPr lang="en-US" sz="1600" dirty="0"/>
              <a:t>.</a:t>
            </a: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1D012512-475A-1A49-2FFF-B1E79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>
            <a:extLst>
              <a:ext uri="{FF2B5EF4-FFF2-40B4-BE49-F238E27FC236}">
                <a16:creationId xmlns:a16="http://schemas.microsoft.com/office/drawing/2014/main" id="{32C0A142-BC40-EB92-5486-DEE33E9378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6383329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Fork the content for this summer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D58D23-7785-782C-DD39-1FA4D988A4B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1481" y="1363940"/>
            <a:ext cx="5937281" cy="3017520"/>
          </a:xfrm>
        </p:spPr>
        <p:txBody>
          <a:bodyPr/>
          <a:lstStyle/>
          <a:p>
            <a:r>
              <a:rPr lang="en-US" dirty="0"/>
              <a:t>Go to </a:t>
            </a:r>
            <a:r>
              <a:rPr lang="en-US" dirty="0">
                <a:hlinkClick r:id="rId3"/>
              </a:rPr>
              <a:t>https://github.com/AFC-AI2C/summer-course</a:t>
            </a:r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4C6DE1-3592-AF11-FAE3-F132EBD8B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6" y="1754459"/>
            <a:ext cx="6894938" cy="34850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1C4340D-9A99-7025-595C-23DE51FDB03A}"/>
              </a:ext>
            </a:extLst>
          </p:cNvPr>
          <p:cNvSpPr/>
          <p:nvPr/>
        </p:nvSpPr>
        <p:spPr>
          <a:xfrm>
            <a:off x="5843239" y="1992350"/>
            <a:ext cx="624468" cy="468351"/>
          </a:xfrm>
          <a:prstGeom prst="rect">
            <a:avLst/>
          </a:prstGeom>
          <a:noFill/>
          <a:ln w="38100"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10788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CDA3A273-E3E1-FD5B-A39E-CCE21A24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E04F518-12DC-0094-D7ED-D293577F3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8016" y="1033347"/>
            <a:ext cx="5510167" cy="393173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7FABDEE-5903-B2DF-C869-8F2A7D8A7FD7}"/>
              </a:ext>
            </a:extLst>
          </p:cNvPr>
          <p:cNvSpPr/>
          <p:nvPr/>
        </p:nvSpPr>
        <p:spPr>
          <a:xfrm>
            <a:off x="6118302" y="4329459"/>
            <a:ext cx="758284" cy="468351"/>
          </a:xfrm>
          <a:prstGeom prst="rect">
            <a:avLst/>
          </a:prstGeom>
          <a:noFill/>
          <a:ln w="38100"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12" name="Google Shape;249;p44">
            <a:extLst>
              <a:ext uri="{FF2B5EF4-FFF2-40B4-BE49-F238E27FC236}">
                <a16:creationId xmlns:a16="http://schemas.microsoft.com/office/drawing/2014/main" id="{DBDECF57-42A8-4250-A37C-9A0667A15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6383329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Create a fork</a:t>
            </a:r>
          </a:p>
        </p:txBody>
      </p:sp>
    </p:spTree>
    <p:extLst>
      <p:ext uri="{BB962C8B-B14F-4D97-AF65-F5344CB8AC3E}">
        <p14:creationId xmlns:p14="http://schemas.microsoft.com/office/powerpoint/2010/main" val="558195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98945316-27DE-53FC-F095-006A50EFC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7F769-E95D-35AD-A952-B5BCB7213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63642"/>
            <a:ext cx="9144000" cy="4079858"/>
          </a:xfrm>
          <a:prstGeom prst="rect">
            <a:avLst/>
          </a:prstGeom>
        </p:spPr>
      </p:pic>
      <p:sp>
        <p:nvSpPr>
          <p:cNvPr id="4" name="Google Shape;249;p44">
            <a:extLst>
              <a:ext uri="{FF2B5EF4-FFF2-40B4-BE49-F238E27FC236}">
                <a16:creationId xmlns:a16="http://schemas.microsoft.com/office/drawing/2014/main" id="{88DB8D88-3EC1-3935-A284-76A61C783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6383329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YOUR FORKED REPO!</a:t>
            </a:r>
          </a:p>
        </p:txBody>
      </p:sp>
    </p:spTree>
    <p:extLst>
      <p:ext uri="{BB962C8B-B14F-4D97-AF65-F5344CB8AC3E}">
        <p14:creationId xmlns:p14="http://schemas.microsoft.com/office/powerpoint/2010/main" val="1201470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4CB87A01-4EFA-672D-64B8-B0B78A7FC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DC2C90-827C-B480-837E-FC88CCA51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70" y="1048249"/>
            <a:ext cx="7359805" cy="4100538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15FBEC0-47A0-800A-E2D4-0294517B36BC}"/>
              </a:ext>
            </a:extLst>
          </p:cNvPr>
          <p:cNvSpPr/>
          <p:nvPr/>
        </p:nvSpPr>
        <p:spPr>
          <a:xfrm rot="9934382">
            <a:off x="5032917" y="1390179"/>
            <a:ext cx="624468" cy="28249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07E99C7D-7B4F-40A2-63AA-AFCABBC53491}"/>
              </a:ext>
            </a:extLst>
          </p:cNvPr>
          <p:cNvSpPr/>
          <p:nvPr/>
        </p:nvSpPr>
        <p:spPr>
          <a:xfrm rot="10222261">
            <a:off x="4932555" y="2285997"/>
            <a:ext cx="624468" cy="28249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6" name="Google Shape;249;p44">
            <a:extLst>
              <a:ext uri="{FF2B5EF4-FFF2-40B4-BE49-F238E27FC236}">
                <a16:creationId xmlns:a16="http://schemas.microsoft.com/office/drawing/2014/main" id="{2E826254-3333-D45A-95C4-6169A734E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CLONE FOR LOCAL DEVELOPMENT</a:t>
            </a:r>
          </a:p>
        </p:txBody>
      </p:sp>
    </p:spTree>
    <p:extLst>
      <p:ext uri="{BB962C8B-B14F-4D97-AF65-F5344CB8AC3E}">
        <p14:creationId xmlns:p14="http://schemas.microsoft.com/office/powerpoint/2010/main" val="2199570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2505F461-A12F-CE88-34BC-6E3335897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FD5FAF-B0FA-EC0D-AA09-8DFA5D4F5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70" y="1048249"/>
            <a:ext cx="7359805" cy="4100538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B615ECF3-F782-8FF0-E04E-A6A6FADE0AEE}"/>
              </a:ext>
            </a:extLst>
          </p:cNvPr>
          <p:cNvSpPr/>
          <p:nvPr/>
        </p:nvSpPr>
        <p:spPr>
          <a:xfrm rot="9934382">
            <a:off x="5032917" y="1390179"/>
            <a:ext cx="624468" cy="28249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EA905B4-86A4-F341-483C-91E6A7BEEA2D}"/>
              </a:ext>
            </a:extLst>
          </p:cNvPr>
          <p:cNvSpPr/>
          <p:nvPr/>
        </p:nvSpPr>
        <p:spPr>
          <a:xfrm rot="10222261">
            <a:off x="4932555" y="2285997"/>
            <a:ext cx="624468" cy="28249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6" name="Google Shape;249;p44">
            <a:extLst>
              <a:ext uri="{FF2B5EF4-FFF2-40B4-BE49-F238E27FC236}">
                <a16:creationId xmlns:a16="http://schemas.microsoft.com/office/drawing/2014/main" id="{B9F9674D-A2DF-BE7D-F0F7-691414DDE9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CLONE FOR LOCAL DEVELOPMENT</a:t>
            </a:r>
          </a:p>
        </p:txBody>
      </p:sp>
    </p:spTree>
    <p:extLst>
      <p:ext uri="{BB962C8B-B14F-4D97-AF65-F5344CB8AC3E}">
        <p14:creationId xmlns:p14="http://schemas.microsoft.com/office/powerpoint/2010/main" val="4019813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C698C6C2-8A49-1088-7BD3-25145C4E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603F7A-F7A2-FBF5-EFAC-B34A10D0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073" y="1951878"/>
            <a:ext cx="7363853" cy="24292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BA96263-EB07-EDF4-D1A4-1A1DFF6B63E0}"/>
              </a:ext>
            </a:extLst>
          </p:cNvPr>
          <p:cNvSpPr/>
          <p:nvPr/>
        </p:nvSpPr>
        <p:spPr>
          <a:xfrm>
            <a:off x="5084956" y="2408666"/>
            <a:ext cx="542693" cy="349405"/>
          </a:xfrm>
          <a:prstGeom prst="rect">
            <a:avLst/>
          </a:prstGeom>
          <a:solidFill>
            <a:srgbClr val="FF0000"/>
          </a:solidFill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5" name="Google Shape;249;p44">
            <a:extLst>
              <a:ext uri="{FF2B5EF4-FFF2-40B4-BE49-F238E27FC236}">
                <a16:creationId xmlns:a16="http://schemas.microsoft.com/office/drawing/2014/main" id="{EAAC3E57-E395-A9B5-080D-B657E2B648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IN VS CODE…</a:t>
            </a:r>
          </a:p>
        </p:txBody>
      </p:sp>
    </p:spTree>
    <p:extLst>
      <p:ext uri="{BB962C8B-B14F-4D97-AF65-F5344CB8AC3E}">
        <p14:creationId xmlns:p14="http://schemas.microsoft.com/office/powerpoint/2010/main" val="3049756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687B3AEB-B086-44F0-850A-20981CF14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49;p44">
            <a:extLst>
              <a:ext uri="{FF2B5EF4-FFF2-40B4-BE49-F238E27FC236}">
                <a16:creationId xmlns:a16="http://schemas.microsoft.com/office/drawing/2014/main" id="{879A4710-86A9-07AD-F1CC-722DD8A710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What did we just do…?</a:t>
            </a:r>
          </a:p>
        </p:txBody>
      </p:sp>
    </p:spTree>
    <p:extLst>
      <p:ext uri="{BB962C8B-B14F-4D97-AF65-F5344CB8AC3E}">
        <p14:creationId xmlns:p14="http://schemas.microsoft.com/office/powerpoint/2010/main" val="12905672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28F88F64-D73E-2BD5-3582-446A1F707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49;p44">
            <a:extLst>
              <a:ext uri="{FF2B5EF4-FFF2-40B4-BE49-F238E27FC236}">
                <a16:creationId xmlns:a16="http://schemas.microsoft.com/office/drawing/2014/main" id="{FF877FF3-8C20-541A-B334-AA81082BA6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54428" y="2125861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Take a 5 minute break</a:t>
            </a:r>
          </a:p>
        </p:txBody>
      </p:sp>
    </p:spTree>
    <p:extLst>
      <p:ext uri="{BB962C8B-B14F-4D97-AF65-F5344CB8AC3E}">
        <p14:creationId xmlns:p14="http://schemas.microsoft.com/office/powerpoint/2010/main" val="3383676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580CC921-698A-88A2-BE92-3B6495D49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49;p44">
            <a:extLst>
              <a:ext uri="{FF2B5EF4-FFF2-40B4-BE49-F238E27FC236}">
                <a16:creationId xmlns:a16="http://schemas.microsoft.com/office/drawing/2014/main" id="{E5BECAE6-C8EE-01B1-A7C2-D5D262B171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7072" y="230154"/>
            <a:ext cx="7359805" cy="891778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More environment setup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4407BE67-57F8-9DBF-61E1-778040026A10}"/>
              </a:ext>
            </a:extLst>
          </p:cNvPr>
          <p:cNvSpPr txBox="1">
            <a:spLocks/>
          </p:cNvSpPr>
          <p:nvPr/>
        </p:nvSpPr>
        <p:spPr>
          <a:xfrm>
            <a:off x="548640" y="857250"/>
            <a:ext cx="4023360" cy="3429000"/>
          </a:xfrm>
          <a:prstGeom prst="rect">
            <a:avLst/>
          </a:prstGeom>
        </p:spPr>
        <p:txBody>
          <a:bodyPr/>
          <a:lstStyle>
            <a:lvl1pPr marL="137160" indent="-137160" algn="l" defTabSz="685800" rtl="0" eaLnBrk="1" latinLnBrk="0" hangingPunct="1">
              <a:lnSpc>
                <a:spcPct val="95000"/>
              </a:lnSpc>
              <a:spcBef>
                <a:spcPts val="750"/>
              </a:spcBef>
              <a:buFont typeface="Arial" panose="020B0604020202020204" pitchFamily="34" charset="0"/>
              <a:buChar char="▪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7432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148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864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8580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2296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6012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9728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34440" indent="-137160" algn="l" defTabSz="685800" rtl="0" eaLnBrk="1" latinLnBrk="0" hangingPunct="1">
              <a:lnSpc>
                <a:spcPct val="95000"/>
              </a:lnSpc>
              <a:spcBef>
                <a:spcPts val="375"/>
              </a:spcBef>
              <a:buFont typeface="Arial" panose="020B0604020202020204" pitchFamily="34" charset="0"/>
              <a:buChar char="–"/>
              <a:defRPr sz="12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Tx/>
              <a:buNone/>
            </a:pPr>
            <a:endParaRPr lang="en-US" sz="1600" dirty="0"/>
          </a:p>
          <a:p>
            <a:pPr marL="0" indent="0">
              <a:buClrTx/>
              <a:buNone/>
            </a:pPr>
            <a:r>
              <a:rPr lang="en-US" sz="1600" dirty="0"/>
              <a:t>Open enviroment_setup.md</a:t>
            </a:r>
          </a:p>
          <a:p>
            <a:pPr marL="0" indent="0">
              <a:buClrTx/>
              <a:buNone/>
            </a:pPr>
            <a:endParaRPr lang="en-US" sz="1600" dirty="0"/>
          </a:p>
          <a:p>
            <a:pPr marL="0" indent="0">
              <a:buClrTx/>
              <a:buNone/>
            </a:pPr>
            <a:r>
              <a:rPr lang="en-US" sz="1600" dirty="0"/>
              <a:t>Follow steps to download:</a:t>
            </a:r>
          </a:p>
          <a:p>
            <a:pPr marL="342900" indent="-342900">
              <a:buClrTx/>
              <a:buAutoNum type="arabicParenR"/>
            </a:pPr>
            <a:r>
              <a:rPr lang="en-US" sz="1600" dirty="0"/>
              <a:t>WSL</a:t>
            </a:r>
          </a:p>
          <a:p>
            <a:pPr marL="342900" indent="-342900">
              <a:buClrTx/>
              <a:buAutoNum type="arabicParenR"/>
            </a:pPr>
            <a:r>
              <a:rPr lang="en-US" sz="1600" dirty="0"/>
              <a:t>Docker Desktop</a:t>
            </a:r>
          </a:p>
          <a:p>
            <a:pPr marL="342900" indent="-342900">
              <a:buClrTx/>
              <a:buAutoNum type="arabicParenR"/>
            </a:pPr>
            <a:r>
              <a:rPr lang="en-US" sz="1600" dirty="0"/>
              <a:t>Terraform</a:t>
            </a:r>
          </a:p>
          <a:p>
            <a:pPr marL="342900" indent="-342900">
              <a:buClrTx/>
              <a:buAutoNum type="arabicParenR"/>
            </a:pPr>
            <a:r>
              <a:rPr lang="en-US" sz="1600" dirty="0"/>
              <a:t>Azure CLI</a:t>
            </a:r>
          </a:p>
          <a:p>
            <a:pPr marL="342900" indent="-342900">
              <a:buClrTx/>
              <a:buAutoNum type="arabicParenR"/>
            </a:pPr>
            <a:endParaRPr lang="en-US" sz="1600" dirty="0"/>
          </a:p>
          <a:p>
            <a:pPr marL="0" indent="0">
              <a:buClrTx/>
              <a:buNone/>
            </a:pPr>
            <a:r>
              <a:rPr lang="en-US" sz="1600" dirty="0"/>
              <a:t>Set up this account:</a:t>
            </a:r>
          </a:p>
          <a:p>
            <a:pPr marL="0" indent="0">
              <a:buClrTx/>
              <a:buNone/>
            </a:pPr>
            <a:r>
              <a:rPr lang="en-US" sz="1600" dirty="0"/>
              <a:t>1) Docker Hub</a:t>
            </a:r>
          </a:p>
          <a:p>
            <a:pPr>
              <a:buClrTx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38676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8BF6-7256-D98B-7740-649A92525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D5E67-FC4D-161B-B022-1B8B9941A996}"/>
              </a:ext>
            </a:extLst>
          </p:cNvPr>
          <p:cNvSpPr>
            <a:spLocks noGrp="1"/>
          </p:cNvSpPr>
          <p:nvPr>
            <p:ph type="dt" sz="half" idx="49"/>
          </p:nvPr>
        </p:nvSpPr>
        <p:spPr>
          <a:xfrm>
            <a:off x="410766" y="4972050"/>
            <a:ext cx="617934" cy="1714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E833E-D031-89D4-CFDE-3B077A1FA52F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>
          <a:xfrm>
            <a:off x="8408037" y="4972050"/>
            <a:ext cx="331501" cy="171450"/>
          </a:xfrm>
        </p:spPr>
        <p:txBody>
          <a:bodyPr/>
          <a:lstStyle/>
          <a:p>
            <a:pPr lvl="0"/>
            <a:fld id="{00000000-1234-1234-1234-123412341234}" type="slidenum">
              <a:rPr lang="en" smtClean="0"/>
              <a:pPr lvl="0"/>
              <a:t>20</a:t>
            </a:fld>
            <a:endParaRPr lang="en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A4DC84C6-922D-BCD5-4D80-22CE18AC236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ECA9802-9526-6047-E0A5-41674D69689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C69C1CB3-F740-9472-408E-FD84B97E34F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4C5CBE8-F17A-D9A8-AB16-66AFCCE497F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9D7A4E7-BAFD-762A-0E63-4AF1CC2956C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35FE14A-A815-D8EF-8489-B1F143A62CD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043EEE1A-DCDD-F396-6706-9734DF7B5E57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5BF6CCFC-7DFD-1B10-C8B8-26BFEA5077F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835129B-00FD-424E-E61B-F9AA01CCA6FA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03A4F49-DA9D-48F0-E806-6737673914F3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6FB89A0-87A1-ECCF-3E5D-24779C2B3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652115"/>
            <a:ext cx="4822031" cy="994410"/>
          </a:xfrm>
        </p:spPr>
        <p:txBody>
          <a:bodyPr/>
          <a:lstStyle/>
          <a:p>
            <a:br>
              <a:rPr lang="en-US" dirty="0"/>
            </a:br>
            <a:r>
              <a:rPr lang="en-US" dirty="0"/>
              <a:t>intro to python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D9642238-1C9A-5953-F216-1C626B9BAF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D4AB0C5-5108-4D9D-92D1-D30261CE7F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34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115FCC-A099-263E-3D44-13509AA291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B2E3CE6B-D76B-58BD-9DCD-B098F5AE2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Programming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A47A-676C-61C7-9056-A28AD59AC7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F1A61-221A-7D20-4937-904BE4B247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286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F4084A2D-BCD8-799E-EBFF-72120E9A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">
            <a:extLst>
              <a:ext uri="{FF2B5EF4-FFF2-40B4-BE49-F238E27FC236}">
                <a16:creationId xmlns:a16="http://schemas.microsoft.com/office/drawing/2014/main" id="{E49FBB25-0B72-0CF6-3415-DF06EC72F0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What is a Program?</a:t>
            </a:r>
          </a:p>
        </p:txBody>
      </p:sp>
      <p:sp>
        <p:nvSpPr>
          <p:cNvPr id="261" name="Google Shape;261;p46">
            <a:extLst>
              <a:ext uri="{FF2B5EF4-FFF2-40B4-BE49-F238E27FC236}">
                <a16:creationId xmlns:a16="http://schemas.microsoft.com/office/drawing/2014/main" id="{BA24EEA5-E568-0A4E-535F-E8DF7161994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A series of instructions</a:t>
            </a:r>
          </a:p>
          <a:p>
            <a:pPr lvl="0"/>
            <a:r>
              <a:rPr lang="en-US" dirty="0"/>
              <a:t>Executed in order</a:t>
            </a:r>
          </a:p>
          <a:p>
            <a:pPr lvl="0"/>
            <a:r>
              <a:rPr lang="en-US" dirty="0"/>
              <a:t>On a computer</a:t>
            </a:r>
          </a:p>
          <a:p>
            <a:pPr lvl="0"/>
            <a:r>
              <a:rPr lang="en-US" dirty="0"/>
              <a:t>Requires</a:t>
            </a:r>
          </a:p>
          <a:p>
            <a:pPr lvl="1"/>
            <a:r>
              <a:rPr lang="en-US" dirty="0"/>
              <a:t>Computation</a:t>
            </a:r>
          </a:p>
          <a:p>
            <a:pPr lvl="1"/>
            <a:r>
              <a:rPr lang="en-US" dirty="0"/>
              <a:t>Memory / storage</a:t>
            </a:r>
          </a:p>
          <a:p>
            <a:pPr lvl="1"/>
            <a:endParaRPr lang="en-US" dirty="0"/>
          </a:p>
          <a:p>
            <a:r>
              <a:rPr lang="en-US" dirty="0"/>
              <a:t>Generally, </a:t>
            </a:r>
            <a:r>
              <a:rPr lang="en-US" i="1" dirty="0"/>
              <a:t>data</a:t>
            </a:r>
            <a:r>
              <a:rPr lang="en-US" dirty="0"/>
              <a:t> is the most important thing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Manipulate</a:t>
            </a:r>
          </a:p>
          <a:p>
            <a:pPr lvl="1"/>
            <a:r>
              <a:rPr lang="en-US" dirty="0"/>
              <a:t>Transform</a:t>
            </a:r>
          </a:p>
        </p:txBody>
      </p:sp>
    </p:spTree>
    <p:extLst>
      <p:ext uri="{BB962C8B-B14F-4D97-AF65-F5344CB8AC3E}">
        <p14:creationId xmlns:p14="http://schemas.microsoft.com/office/powerpoint/2010/main" val="3244399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So what is Python?</a:t>
            </a:r>
          </a:p>
        </p:txBody>
      </p:sp>
      <p:sp>
        <p:nvSpPr>
          <p:cNvPr id="261" name="Google Shape;261;p46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High-level, interpreted </a:t>
            </a:r>
            <a:r>
              <a:rPr lang="en-US" i="1" dirty="0"/>
              <a:t>program</a:t>
            </a:r>
            <a:r>
              <a:rPr lang="en-US" dirty="0"/>
              <a:t>ming language </a:t>
            </a:r>
          </a:p>
          <a:p>
            <a:pPr lvl="1"/>
            <a:r>
              <a:rPr lang="en-US" dirty="0"/>
              <a:t>simplicity</a:t>
            </a:r>
          </a:p>
          <a:p>
            <a:pPr lvl="1"/>
            <a:r>
              <a:rPr lang="en-US" dirty="0"/>
              <a:t>readability</a:t>
            </a:r>
          </a:p>
          <a:p>
            <a:pPr lvl="1"/>
            <a:r>
              <a:rPr lang="en-US" dirty="0"/>
              <a:t>versatility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Widely used</a:t>
            </a:r>
          </a:p>
          <a:p>
            <a:pPr lvl="1"/>
            <a:r>
              <a:rPr lang="en-US" dirty="0"/>
              <a:t>Professionals, amateurs</a:t>
            </a:r>
          </a:p>
          <a:p>
            <a:pPr lvl="1"/>
            <a:r>
              <a:rPr lang="en-US" dirty="0"/>
              <a:t>Web dev, data science, automation,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1D3F4-B81F-5FCC-770B-0F5B4AC6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Interpreter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E0F3DD-DCFF-65A0-2B71-D24A23204D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 to your terminal and start the python executable</a:t>
            </a:r>
          </a:p>
          <a:p>
            <a:r>
              <a:rPr lang="en-US" dirty="0"/>
              <a:t>The interpreter runs python code</a:t>
            </a:r>
          </a:p>
          <a:p>
            <a:r>
              <a:rPr lang="en-US" dirty="0"/>
              <a:t>Lines preceded by ‘&gt;&gt;&gt;’ are instructions</a:t>
            </a:r>
          </a:p>
          <a:p>
            <a:r>
              <a:rPr lang="en-US" dirty="0"/>
              <a:t>Other lines are results</a:t>
            </a:r>
          </a:p>
          <a:p>
            <a:r>
              <a:rPr lang="en-US" i="1" dirty="0"/>
              <a:t>Expressions</a:t>
            </a:r>
            <a:r>
              <a:rPr lang="en-US" dirty="0"/>
              <a:t> evaluate to a specific value</a:t>
            </a:r>
          </a:p>
          <a:p>
            <a:pPr lvl="1"/>
            <a:r>
              <a:rPr lang="en-US" dirty="0"/>
              <a:t>5 + 7 </a:t>
            </a:r>
            <a:r>
              <a:rPr lang="en-US" dirty="0">
                <a:sym typeface="Wingdings" panose="05000000000000000000" pitchFamily="2" charset="2"/>
              </a:rPr>
              <a:t> 12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True or False  False</a:t>
            </a:r>
          </a:p>
          <a:p>
            <a:endParaRPr lang="en-US" i="1" dirty="0">
              <a:sym typeface="Wingdings" panose="05000000000000000000" pitchFamily="2" charset="2"/>
            </a:endParaRPr>
          </a:p>
          <a:p>
            <a:r>
              <a:rPr lang="en-US" i="1" dirty="0">
                <a:sym typeface="Wingdings" panose="05000000000000000000" pitchFamily="2" charset="2"/>
              </a:rPr>
              <a:t>Statements</a:t>
            </a:r>
            <a:r>
              <a:rPr lang="en-US" dirty="0">
                <a:sym typeface="Wingdings" panose="05000000000000000000" pitchFamily="2" charset="2"/>
              </a:rPr>
              <a:t> do not evaluate to a specific value but may have other </a:t>
            </a:r>
            <a:r>
              <a:rPr lang="en-US" i="1" dirty="0">
                <a:sym typeface="Wingdings" panose="05000000000000000000" pitchFamily="2" charset="2"/>
              </a:rPr>
              <a:t>side effects</a:t>
            </a:r>
            <a:r>
              <a:rPr lang="en-US" dirty="0">
                <a:sym typeface="Wingdings" panose="05000000000000000000" pitchFamily="2" charset="2"/>
              </a:rPr>
              <a:t> (more on this later)</a:t>
            </a:r>
            <a:endParaRPr lang="en-US" i="1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228DB04-280A-CD3A-F2E4-A669ADF9F6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08525" y="2201518"/>
            <a:ext cx="4024313" cy="142626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6A0D1-6091-00EC-3E96-67BD29948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5AE3B9-EB21-F250-75E4-840EE9568E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39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Data and datatypes</a:t>
            </a:r>
          </a:p>
        </p:txBody>
      </p:sp>
      <p:sp>
        <p:nvSpPr>
          <p:cNvPr id="267" name="Google Shape;267;p47"/>
          <p:cNvSpPr txBox="1">
            <a:spLocks noGrp="1"/>
          </p:cNvSpPr>
          <p:nvPr>
            <p:ph sz="half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This is important.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Computers classify data into different datatypes.  For instance:</a:t>
            </a:r>
          </a:p>
          <a:p>
            <a:pPr lvl="1"/>
            <a:r>
              <a:rPr lang="en-US" dirty="0"/>
              <a:t>6 is an integer</a:t>
            </a:r>
          </a:p>
          <a:p>
            <a:pPr lvl="1"/>
            <a:r>
              <a:rPr lang="en-US" dirty="0"/>
              <a:t>25.5 is a floating point number (float)</a:t>
            </a:r>
          </a:p>
          <a:p>
            <a:pPr lvl="1"/>
            <a:r>
              <a:rPr lang="en-US" dirty="0"/>
              <a:t>“Hello” is a string</a:t>
            </a:r>
          </a:p>
          <a:p>
            <a:pPr lvl="1"/>
            <a:r>
              <a:rPr lang="en-US" dirty="0"/>
              <a:t>True is a </a:t>
            </a:r>
            <a:r>
              <a:rPr lang="en-US" dirty="0" err="1"/>
              <a:t>boolean</a:t>
            </a:r>
            <a:endParaRPr lang="en-US" dirty="0"/>
          </a:p>
          <a:p>
            <a:pPr lvl="0"/>
            <a:endParaRPr lang="en-US" dirty="0"/>
          </a:p>
          <a:p>
            <a:pPr lvl="0"/>
            <a:r>
              <a:rPr lang="en-US" dirty="0"/>
              <a:t>Python will interact with different datatypes differently.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B7793-1F6B-ED9D-D691-633E4C5D1D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US" dirty="0"/>
              <a:t>Give examples of the following primitive datatypes:</a:t>
            </a:r>
          </a:p>
          <a:p>
            <a:pPr lvl="1"/>
            <a:r>
              <a:rPr lang="en-US" dirty="0"/>
              <a:t>Integers</a:t>
            </a:r>
          </a:p>
          <a:p>
            <a:pPr lvl="1"/>
            <a:r>
              <a:rPr lang="en-US" dirty="0"/>
              <a:t>Floats</a:t>
            </a:r>
          </a:p>
          <a:p>
            <a:pPr lvl="1"/>
            <a:r>
              <a:rPr lang="en-US" dirty="0"/>
              <a:t>Strings</a:t>
            </a:r>
          </a:p>
          <a:p>
            <a:pPr lvl="1"/>
            <a:r>
              <a:rPr lang="en-US" dirty="0"/>
              <a:t>Boolean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2DED-686C-354A-03AA-8C3105239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the Difference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A03FA-440C-E5A0-88B6-F6D53B839E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01100011011011110110111101101100</a:t>
            </a:r>
          </a:p>
          <a:p>
            <a:r>
              <a:rPr lang="en-US" dirty="0"/>
              <a:t>01100011011011110110111101101100</a:t>
            </a:r>
          </a:p>
          <a:p>
            <a:r>
              <a:rPr lang="en-US" dirty="0"/>
              <a:t>01100011011011110110111101101100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9AC81-FB1F-9F08-D768-CB1A89B829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1,668,247,404 (int)</a:t>
            </a:r>
          </a:p>
          <a:p>
            <a:r>
              <a:rPr lang="en-US" dirty="0"/>
              <a:t>4.4168006258522776e+21 (float)</a:t>
            </a:r>
          </a:p>
          <a:p>
            <a:r>
              <a:rPr lang="en-US" dirty="0"/>
              <a:t>"cool" (string)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B38C4-45F3-1654-A84A-E5E00E36A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CE803-317A-C6AF-DB96-475300B4CB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00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4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Data Type Conversion (Casting)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C5B9A8-13B2-1DF9-516C-B276FB4C4E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927894" y="1781175"/>
            <a:ext cx="2990850" cy="2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B64C403-3397-DF2F-D446-1511CACE48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predefined </a:t>
            </a:r>
            <a:r>
              <a:rPr lang="en-US" i="1" dirty="0"/>
              <a:t>functions </a:t>
            </a:r>
            <a:r>
              <a:rPr lang="en-US" dirty="0"/>
              <a:t>we can use to </a:t>
            </a:r>
            <a:r>
              <a:rPr lang="en-US" i="1" dirty="0"/>
              <a:t>explicitly</a:t>
            </a:r>
            <a:r>
              <a:rPr lang="en-US" dirty="0"/>
              <a:t> convert data from one type to another: </a:t>
            </a:r>
          </a:p>
          <a:p>
            <a:pPr lvl="1"/>
            <a:r>
              <a:rPr lang="en-US" dirty="0"/>
              <a:t>int()</a:t>
            </a:r>
          </a:p>
          <a:p>
            <a:pPr lvl="1"/>
            <a:r>
              <a:rPr lang="en-US" dirty="0"/>
              <a:t>float()</a:t>
            </a:r>
          </a:p>
          <a:p>
            <a:pPr lvl="1"/>
            <a:r>
              <a:rPr lang="en-US" dirty="0"/>
              <a:t>str()</a:t>
            </a:r>
          </a:p>
          <a:p>
            <a:pPr lvl="1"/>
            <a:r>
              <a:rPr lang="en-US" dirty="0"/>
              <a:t>bool()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Operators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AE9037-AF7F-F338-4384-89156B460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56" name="Google Shape;356;p61"/>
          <p:cNvSpPr txBox="1"/>
          <p:nvPr/>
        </p:nvSpPr>
        <p:spPr>
          <a:xfrm>
            <a:off x="480060" y="4594623"/>
            <a:ext cx="25506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Reference:</a:t>
            </a:r>
            <a:b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900" u="sng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https://docs.python.org/3/library/stdtypes.html</a:t>
            </a:r>
            <a:endParaRPr sz="900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7" name="Google Shape;357;p61"/>
          <p:cNvGraphicFramePr/>
          <p:nvPr>
            <p:extLst>
              <p:ext uri="{D42A27DB-BD31-4B8C-83A1-F6EECF244321}">
                <p14:modId xmlns:p14="http://schemas.microsoft.com/office/powerpoint/2010/main" val="1297845240"/>
              </p:ext>
            </p:extLst>
          </p:nvPr>
        </p:nvGraphicFramePr>
        <p:xfrm>
          <a:off x="480060" y="1440180"/>
          <a:ext cx="2427725" cy="312248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693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4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+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Addition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+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Concatenation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-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*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Multiplication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Integer/floor 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%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(remainder)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-x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Negation</a:t>
                      </a:r>
                      <a:endParaRPr sz="1400" b="0" i="1" u="none" strike="noStrike" dirty="0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** y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Exponentiation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58" name="Google Shape;358;p61"/>
          <p:cNvGraphicFramePr/>
          <p:nvPr>
            <p:extLst>
              <p:ext uri="{D42A27DB-BD31-4B8C-83A1-F6EECF244321}">
                <p14:modId xmlns:p14="http://schemas.microsoft.com/office/powerpoint/2010/main" val="1250919493"/>
              </p:ext>
            </p:extLst>
          </p:nvPr>
        </p:nvGraphicFramePr>
        <p:xfrm>
          <a:off x="5760721" y="1028699"/>
          <a:ext cx="2365458" cy="24004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6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==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!=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equal to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59" name="Google Shape;359;p61"/>
          <p:cNvGraphicFramePr/>
          <p:nvPr>
            <p:extLst>
              <p:ext uri="{D42A27DB-BD31-4B8C-83A1-F6EECF244321}">
                <p14:modId xmlns:p14="http://schemas.microsoft.com/office/powerpoint/2010/main" val="1966445913"/>
              </p:ext>
            </p:extLst>
          </p:nvPr>
        </p:nvGraphicFramePr>
        <p:xfrm>
          <a:off x="3074671" y="1020054"/>
          <a:ext cx="2427724" cy="24690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41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5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Assignment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*=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Multiply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Divide and assign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Floor divide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%=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0" name="Google Shape;360;p61"/>
          <p:cNvSpPr/>
          <p:nvPr/>
        </p:nvSpPr>
        <p:spPr>
          <a:xfrm>
            <a:off x="480059" y="1136072"/>
            <a:ext cx="2427723" cy="235527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Arithmetic</a:t>
            </a:r>
            <a:endParaRPr/>
          </a:p>
        </p:txBody>
      </p:sp>
      <p:sp>
        <p:nvSpPr>
          <p:cNvPr id="361" name="Google Shape;361;p61"/>
          <p:cNvSpPr/>
          <p:nvPr/>
        </p:nvSpPr>
        <p:spPr>
          <a:xfrm>
            <a:off x="3074671" y="711791"/>
            <a:ext cx="2427723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</p:txBody>
      </p:sp>
      <p:sp>
        <p:nvSpPr>
          <p:cNvPr id="362" name="Google Shape;362;p61"/>
          <p:cNvSpPr/>
          <p:nvPr/>
        </p:nvSpPr>
        <p:spPr>
          <a:xfrm>
            <a:off x="5754408" y="720436"/>
            <a:ext cx="2365457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</p:txBody>
      </p:sp>
      <p:sp>
        <p:nvSpPr>
          <p:cNvPr id="363" name="Google Shape;363;p61"/>
          <p:cNvSpPr/>
          <p:nvPr/>
        </p:nvSpPr>
        <p:spPr>
          <a:xfrm>
            <a:off x="5760719" y="3463636"/>
            <a:ext cx="2359145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Logical</a:t>
            </a:r>
            <a:endParaRPr/>
          </a:p>
        </p:txBody>
      </p:sp>
      <p:graphicFrame>
        <p:nvGraphicFramePr>
          <p:cNvPr id="364" name="Google Shape;364;p61"/>
          <p:cNvGraphicFramePr/>
          <p:nvPr>
            <p:extLst>
              <p:ext uri="{D42A27DB-BD31-4B8C-83A1-F6EECF244321}">
                <p14:modId xmlns:p14="http://schemas.microsoft.com/office/powerpoint/2010/main" val="954701164"/>
              </p:ext>
            </p:extLst>
          </p:nvPr>
        </p:nvGraphicFramePr>
        <p:xfrm>
          <a:off x="5754406" y="3771851"/>
          <a:ext cx="2365458" cy="134120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78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Meaning</a:t>
                      </a:r>
                      <a:endParaRPr dirty="0"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either is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only if both are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not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x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x is false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5" name="Google Shape;365;p61"/>
          <p:cNvSpPr/>
          <p:nvPr/>
        </p:nvSpPr>
        <p:spPr>
          <a:xfrm>
            <a:off x="3097530" y="3595256"/>
            <a:ext cx="2153607" cy="127751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+=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equivalent to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= x + 1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other assignment operators are similar.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Order of Operations</a:t>
            </a:r>
          </a:p>
        </p:txBody>
      </p:sp>
      <p:sp>
        <p:nvSpPr>
          <p:cNvPr id="372" name="Google Shape;372;p62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The order of operations in Python is essentially the same as in math you are already familiar with:</a:t>
            </a:r>
          </a:p>
          <a:p>
            <a:pPr marL="617220" lvl="2" indent="-342900">
              <a:buFont typeface="+mj-lt"/>
              <a:buAutoNum type="arabicPeriod"/>
            </a:pPr>
            <a:r>
              <a:rPr lang="en-US" dirty="0"/>
              <a:t>Expressions in parentheses</a:t>
            </a:r>
          </a:p>
          <a:p>
            <a:pPr marL="617220" lvl="2" indent="-342900">
              <a:buFont typeface="+mj-lt"/>
              <a:buAutoNum type="arabicPeriod"/>
            </a:pPr>
            <a:r>
              <a:rPr lang="en-US" dirty="0"/>
              <a:t>Exponentiation</a:t>
            </a:r>
          </a:p>
          <a:p>
            <a:pPr marL="617220" lvl="2" indent="-342900">
              <a:buFont typeface="+mj-lt"/>
              <a:buAutoNum type="arabicPeriod"/>
            </a:pPr>
            <a:r>
              <a:rPr lang="en-US" dirty="0"/>
              <a:t>Multiplication, division, integer division, and modulo (remainder)</a:t>
            </a:r>
          </a:p>
          <a:p>
            <a:pPr marL="617220" lvl="2" indent="-342900">
              <a:buFont typeface="+mj-lt"/>
              <a:buAutoNum type="arabicPeriod"/>
            </a:pPr>
            <a:r>
              <a:rPr lang="en-US" dirty="0"/>
              <a:t>Addition and subtraction</a:t>
            </a:r>
          </a:p>
          <a:p>
            <a:pPr lvl="0"/>
            <a:r>
              <a:rPr lang="en-US" dirty="0"/>
              <a:t>Operators with the same precedence (except for </a:t>
            </a:r>
            <a:r>
              <a:rPr lang="en-US" dirty="0">
                <a:sym typeface="Consolas"/>
              </a:rPr>
              <a:t>**</a:t>
            </a:r>
            <a:r>
              <a:rPr lang="en-US" dirty="0"/>
              <a:t>) are evaluated from left-to-right.  (In algebra we say they are left-associative.)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5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/>
              <a:t>In Class Exercise 1</a:t>
            </a:r>
          </a:p>
        </p:txBody>
      </p:sp>
      <p:sp>
        <p:nvSpPr>
          <p:cNvPr id="320" name="Google Shape;320;p55"/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Run the following code snippets in the interpreter.  What do they do?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r>
              <a:rPr lang="en-US" dirty="0"/>
              <a:t>How do we fix the last one?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7AE33-683E-D59D-0A26-4E58770A1CB2}"/>
              </a:ext>
            </a:extLst>
          </p:cNvPr>
          <p:cNvSpPr txBox="1"/>
          <p:nvPr/>
        </p:nvSpPr>
        <p:spPr>
          <a:xfrm>
            <a:off x="411163" y="244012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10 + 15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191868-4A47-1378-82F4-DB27DD38EFF5}"/>
              </a:ext>
            </a:extLst>
          </p:cNvPr>
          <p:cNvSpPr txBox="1"/>
          <p:nvPr/>
        </p:nvSpPr>
        <p:spPr>
          <a:xfrm>
            <a:off x="2822368" y="244012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"10" + "15"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4E183F-D775-0F77-40E7-1E833F827069}"/>
              </a:ext>
            </a:extLst>
          </p:cNvPr>
          <p:cNvSpPr txBox="1"/>
          <p:nvPr/>
        </p:nvSpPr>
        <p:spPr>
          <a:xfrm>
            <a:off x="5568122" y="24178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 + "15"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2CADC2-DB7F-6412-B5E3-9D6D57ABA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6E56BAB-56E0-516E-4575-D3107452B1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14FD4C-7185-FCA9-476F-A3A4F908C2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7E0CF-5BF1-84CC-B2D5-8D205C651E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9840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E99B7-E46D-D8EB-3407-AC7457A46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A65EF-2667-015E-3559-C71C345F71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i="1" dirty="0"/>
              <a:t>Variables</a:t>
            </a:r>
            <a:r>
              <a:rPr lang="en-US" dirty="0"/>
              <a:t> are stored in memory</a:t>
            </a:r>
          </a:p>
          <a:p>
            <a:pPr lvl="1"/>
            <a:r>
              <a:rPr lang="en-US" dirty="0"/>
              <a:t>Can be read</a:t>
            </a:r>
          </a:p>
          <a:p>
            <a:pPr lvl="1"/>
            <a:r>
              <a:rPr lang="en-US" dirty="0"/>
              <a:t>Can be written</a:t>
            </a:r>
          </a:p>
          <a:p>
            <a:pPr lvl="1"/>
            <a:r>
              <a:rPr lang="en-US" dirty="0"/>
              <a:t>Can be deleted</a:t>
            </a:r>
          </a:p>
          <a:p>
            <a:r>
              <a:rPr lang="en-US" dirty="0"/>
              <a:t>Used for short-term storage</a:t>
            </a:r>
          </a:p>
          <a:p>
            <a:r>
              <a:rPr lang="en-US" dirty="0"/>
              <a:t>Let’s fill in the table on the right…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9A9C3-45DC-BCFB-D0DE-1DB5C5551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2CC786-C5EB-1DDE-3894-30587C23BC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32</a:t>
            </a:fld>
            <a:endParaRPr lang="en-US"/>
          </a:p>
        </p:txBody>
      </p:sp>
      <p:graphicFrame>
        <p:nvGraphicFramePr>
          <p:cNvPr id="21" name="Content Placeholder 20">
            <a:extLst>
              <a:ext uri="{FF2B5EF4-FFF2-40B4-BE49-F238E27FC236}">
                <a16:creationId xmlns:a16="http://schemas.microsoft.com/office/drawing/2014/main" id="{993AFCB7-4869-FEAE-A137-9522B4B463E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45258901"/>
              </p:ext>
            </p:extLst>
          </p:nvPr>
        </p:nvGraphicFramePr>
        <p:xfrm>
          <a:off x="3962400" y="1200150"/>
          <a:ext cx="4770436" cy="1483360"/>
        </p:xfrm>
        <a:graphic>
          <a:graphicData uri="http://schemas.openxmlformats.org/drawingml/2006/table">
            <a:tbl>
              <a:tblPr firstRow="1" bandRow="1">
                <a:tableStyleId>{20BDE71D-A5DA-4731-8206-4FC7E790C503}</a:tableStyleId>
              </a:tblPr>
              <a:tblGrid>
                <a:gridCol w="1192609">
                  <a:extLst>
                    <a:ext uri="{9D8B030D-6E8A-4147-A177-3AD203B41FA5}">
                      <a16:colId xmlns:a16="http://schemas.microsoft.com/office/drawing/2014/main" val="4263872489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1360226786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3032398684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574384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Memory </a:t>
                      </a:r>
                      <a:r>
                        <a:rPr lang="en-US" dirty="0" err="1"/>
                        <a:t>Addr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23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1950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6505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486723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A61A7C7-62EC-6838-9D3C-C8FC11E25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950440"/>
              </p:ext>
            </p:extLst>
          </p:nvPr>
        </p:nvGraphicFramePr>
        <p:xfrm>
          <a:off x="3962086" y="1570990"/>
          <a:ext cx="4770436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2609">
                  <a:extLst>
                    <a:ext uri="{9D8B030D-6E8A-4147-A177-3AD203B41FA5}">
                      <a16:colId xmlns:a16="http://schemas.microsoft.com/office/drawing/2014/main" val="2253679453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1568315633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3447679000"/>
                    </a:ext>
                  </a:extLst>
                </a:gridCol>
                <a:gridCol w="1192609">
                  <a:extLst>
                    <a:ext uri="{9D8B030D-6E8A-4147-A177-3AD203B41FA5}">
                      <a16:colId xmlns:a16="http://schemas.microsoft.com/office/drawing/2014/main" val="11037546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my_variable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127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new_variable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"hello"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238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third_variable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0x00000006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157966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96CA6D26-1A5A-8EEA-9CCD-CBF9C7DE7934}"/>
              </a:ext>
            </a:extLst>
          </p:cNvPr>
          <p:cNvSpPr txBox="1"/>
          <p:nvPr/>
        </p:nvSpPr>
        <p:spPr>
          <a:xfrm>
            <a:off x="5124174" y="2889249"/>
            <a:ext cx="3577425" cy="103808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2880" indent="-182880">
              <a:lnSpc>
                <a:spcPct val="95000"/>
              </a:lnSpc>
              <a:spcBef>
                <a:spcPts val="1000"/>
              </a:spcBef>
              <a:buSzPct val="100000"/>
              <a:buFont typeface="Arial"/>
              <a:buChar char="▪"/>
            </a:pPr>
            <a:r>
              <a:rPr lang="en-US" sz="1700" dirty="0"/>
              <a:t>How does the computer calculate the value for the last line?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1DEE64-0CD9-B3E7-6300-6D5F3494C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25" y="2988702"/>
            <a:ext cx="4553585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18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53020-0C6E-2BE8-B970-878F589C9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C173BB-2B34-BBE3-9A14-05FDD00185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was the </a:t>
            </a:r>
            <a:r>
              <a:rPr lang="en-US" i="1" dirty="0"/>
              <a:t>result</a:t>
            </a:r>
            <a:r>
              <a:rPr lang="en-US" dirty="0"/>
              <a:t> of the first line?</a:t>
            </a:r>
          </a:p>
          <a:p>
            <a:r>
              <a:rPr lang="en-US" dirty="0"/>
              <a:t>Is that a statement or an expression?</a:t>
            </a:r>
          </a:p>
          <a:p>
            <a:r>
              <a:rPr lang="en-US" i="1" dirty="0"/>
              <a:t>Important!</a:t>
            </a:r>
            <a:r>
              <a:rPr lang="en-US" dirty="0"/>
              <a:t>  </a:t>
            </a:r>
            <a:r>
              <a:rPr lang="en-US" i="1" dirty="0"/>
              <a:t>Statements</a:t>
            </a:r>
            <a:r>
              <a:rPr lang="en-US" dirty="0"/>
              <a:t> do not give a value back.</a:t>
            </a:r>
          </a:p>
          <a:p>
            <a:r>
              <a:rPr lang="en-US" i="1" dirty="0"/>
              <a:t>Expressions</a:t>
            </a:r>
            <a:r>
              <a:rPr lang="en-US" dirty="0"/>
              <a:t> do evaluate to a value.</a:t>
            </a:r>
          </a:p>
          <a:p>
            <a:r>
              <a:rPr lang="en-US" dirty="0"/>
              <a:t>Statements can contain expressions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950C07-C9B3-B7DB-CA0F-7FC749C0D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 a minute…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B50B6-ED80-A597-7735-9D739525D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EB6A18-6527-2D70-6B3E-D3F8A546A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33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BCF09-E4CC-A386-CBB8-304FCD9287F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1163" y="2144306"/>
            <a:ext cx="4024312" cy="154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439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7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 dirty="0"/>
              <a:t>Variable Naming Rules and Conventions</a:t>
            </a:r>
          </a:p>
        </p:txBody>
      </p:sp>
      <p:sp>
        <p:nvSpPr>
          <p:cNvPr id="332" name="Google Shape;332;p57"/>
          <p:cNvSpPr txBox="1">
            <a:spLocks noGrp="1"/>
          </p:cNvSpPr>
          <p:nvPr>
            <p:ph sz="half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dirty="0"/>
              <a:t>You can name a variable anything but…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cannot start with a number.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cannot include special characters (&amp;*^%!)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cannot have any spaces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cannot be a python keyword (for, if, else…)</a:t>
            </a:r>
            <a:br>
              <a:rPr lang="en-US" dirty="0"/>
            </a:br>
            <a:r>
              <a:rPr lang="en-US" dirty="0"/>
              <a:t>(You’ll learn more keywords as you learn the language)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B445F-A090-94C9-0107-7F0085BAF9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09161" y="1244324"/>
            <a:ext cx="4023360" cy="3429000"/>
          </a:xfrm>
        </p:spPr>
        <p:txBody>
          <a:bodyPr/>
          <a:lstStyle/>
          <a:p>
            <a:pPr lvl="0">
              <a:spcBef>
                <a:spcPts val="600"/>
              </a:spcBef>
            </a:pPr>
            <a:r>
              <a:rPr lang="en-US" dirty="0"/>
              <a:t>Your variable name should…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describe something about the data</a:t>
            </a:r>
          </a:p>
          <a:p>
            <a:pPr lvl="1">
              <a:spcBef>
                <a:spcPts val="600"/>
              </a:spcBef>
            </a:pPr>
            <a:r>
              <a:rPr lang="en-US" dirty="0" err="1"/>
              <a:t>use_snake_case_for_variables</a:t>
            </a:r>
            <a:endParaRPr lang="en-US" dirty="0"/>
          </a:p>
          <a:p>
            <a:pPr lvl="1">
              <a:spcBef>
                <a:spcPts val="600"/>
              </a:spcBef>
            </a:pPr>
            <a:r>
              <a:rPr lang="en-US" dirty="0" err="1"/>
              <a:t>UseCapWordsForClassNames</a:t>
            </a:r>
            <a:endParaRPr lang="en-US" dirty="0"/>
          </a:p>
          <a:p>
            <a:pPr lvl="1">
              <a:spcBef>
                <a:spcPts val="600"/>
              </a:spcBef>
            </a:pPr>
            <a:r>
              <a:rPr lang="en-US" dirty="0"/>
              <a:t>Use ALLCAPs for constants</a:t>
            </a:r>
          </a:p>
          <a:p>
            <a:pPr>
              <a:spcBef>
                <a:spcPts val="600"/>
              </a:spcBef>
            </a:pPr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0A24AA87-FE3F-E7BC-362C-6B2405476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5">
            <a:extLst>
              <a:ext uri="{FF2B5EF4-FFF2-40B4-BE49-F238E27FC236}">
                <a16:creationId xmlns:a16="http://schemas.microsoft.com/office/drawing/2014/main" id="{E5D280F4-CF3B-C906-DF6C-43B12B48C8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In Class Exercise 2</a:t>
            </a:r>
          </a:p>
        </p:txBody>
      </p:sp>
      <p:sp>
        <p:nvSpPr>
          <p:cNvPr id="320" name="Google Shape;320;p55">
            <a:extLst>
              <a:ext uri="{FF2B5EF4-FFF2-40B4-BE49-F238E27FC236}">
                <a16:creationId xmlns:a16="http://schemas.microsoft.com/office/drawing/2014/main" id="{6E81462C-7AD2-9182-930A-A35B7403B90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A Pittsburgh pizza shop is having a two-for-one deal. You can get two small (12”) pizzas for $9.99. In contrast, a large pizza (16”) costs $9.99.  Which one is the better deal (yields more area)?</a:t>
            </a:r>
          </a:p>
          <a:p>
            <a:pPr lvl="1"/>
            <a:r>
              <a:rPr lang="en-US" dirty="0"/>
              <a:t>What is your first intuition?</a:t>
            </a:r>
          </a:p>
          <a:p>
            <a:pPr lvl="1"/>
            <a:r>
              <a:rPr lang="en-US" dirty="0"/>
              <a:t>With a partner, write a plan on how to solve the problem</a:t>
            </a:r>
          </a:p>
          <a:p>
            <a:pPr lvl="1"/>
            <a:r>
              <a:rPr lang="en-US" dirty="0"/>
              <a:t>Then write Python code in the interpreter to answer this question.</a:t>
            </a:r>
          </a:p>
          <a:p>
            <a:pPr lvl="2"/>
            <a:r>
              <a:rPr lang="en-US" dirty="0"/>
              <a:t>Use variables to store data for later</a:t>
            </a:r>
          </a:p>
          <a:p>
            <a:pPr lvl="2"/>
            <a:r>
              <a:rPr lang="en-US" dirty="0"/>
              <a:t>Use 3.14 for pi</a:t>
            </a:r>
          </a:p>
          <a:p>
            <a:pPr lvl="2"/>
            <a:r>
              <a:rPr lang="en-US" dirty="0"/>
              <a:t>area = pi * radius ** 2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812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3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12F2D8F9-EB09-6887-8954-C2D2FD8AF3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Take a Break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>
          <a:extLst>
            <a:ext uri="{FF2B5EF4-FFF2-40B4-BE49-F238E27FC236}">
              <a16:creationId xmlns:a16="http://schemas.microsoft.com/office/drawing/2014/main" id="{4038B997-B770-FDE2-1A90-0BEB0031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3">
            <a:extLst>
              <a:ext uri="{FF2B5EF4-FFF2-40B4-BE49-F238E27FC236}">
                <a16:creationId xmlns:a16="http://schemas.microsoft.com/office/drawing/2014/main" id="{09683E35-95C6-C893-D673-BDDA531B52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20DCD318-C40F-65B3-6BDC-ED75EF14B7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Scripts</a:t>
            </a:r>
          </a:p>
        </p:txBody>
      </p:sp>
    </p:spTree>
    <p:extLst>
      <p:ext uri="{BB962C8B-B14F-4D97-AF65-F5344CB8AC3E}">
        <p14:creationId xmlns:p14="http://schemas.microsoft.com/office/powerpoint/2010/main" val="16236933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Scripting</a:t>
            </a:r>
          </a:p>
        </p:txBody>
      </p:sp>
      <p:sp>
        <p:nvSpPr>
          <p:cNvPr id="344" name="Google Shape;344;p59"/>
          <p:cNvSpPr txBox="1">
            <a:spLocks noGrp="1"/>
          </p:cNvSpPr>
          <p:nvPr>
            <p:ph sz="half" idx="1"/>
          </p:nvPr>
        </p:nvSpPr>
        <p:spPr>
          <a:xfrm>
            <a:off x="411163" y="1200150"/>
            <a:ext cx="42005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A python script is a text file</a:t>
            </a:r>
          </a:p>
          <a:p>
            <a:pPr lvl="0"/>
            <a:r>
              <a:rPr lang="en-US" dirty="0"/>
              <a:t>By convention, filename ends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/>
            <a:r>
              <a:rPr lang="en-US" dirty="0"/>
              <a:t>Contains a series of python statements</a:t>
            </a:r>
          </a:p>
          <a:p>
            <a:pPr lvl="0"/>
            <a:r>
              <a:rPr lang="en-US" dirty="0"/>
              <a:t>When executed, runs all statements, in-order</a:t>
            </a:r>
          </a:p>
          <a:p>
            <a:pPr lvl="0"/>
            <a:r>
              <a:rPr lang="en-US" i="1" dirty="0"/>
              <a:t>Statements</a:t>
            </a:r>
            <a:r>
              <a:rPr lang="en-US" dirty="0"/>
              <a:t> are not shown like the interpreter</a:t>
            </a:r>
          </a:p>
          <a:p>
            <a:pPr lvl="0"/>
            <a:r>
              <a:rPr lang="en-US" i="1" dirty="0"/>
              <a:t>Expressions</a:t>
            </a:r>
            <a:r>
              <a:rPr lang="en-US" dirty="0"/>
              <a:t> are not shown like the interpreter</a:t>
            </a:r>
          </a:p>
          <a:p>
            <a:pPr lvl="0"/>
            <a:r>
              <a:rPr lang="en-US" dirty="0"/>
              <a:t>Use print() function to </a:t>
            </a:r>
            <a:r>
              <a:rPr lang="en-US" i="1" dirty="0"/>
              <a:t>display</a:t>
            </a:r>
            <a:r>
              <a:rPr lang="en-US" dirty="0"/>
              <a:t> values to the terminal</a:t>
            </a:r>
          </a:p>
          <a:p>
            <a:pPr lvl="0"/>
            <a:r>
              <a:rPr lang="en-US" dirty="0"/>
              <a:t>Run with `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python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path_to_script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`</a:t>
            </a:r>
          </a:p>
          <a:p>
            <a:pPr lvl="0"/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718E57C-0384-362F-EA9F-6C7DBC455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017967" y="874725"/>
            <a:ext cx="3219899" cy="18004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218A9D-63CA-9077-9671-0E6E90325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36052"/>
            <a:ext cx="9144000" cy="9930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>
          <a:extLst>
            <a:ext uri="{FF2B5EF4-FFF2-40B4-BE49-F238E27FC236}">
              <a16:creationId xmlns:a16="http://schemas.microsoft.com/office/drawing/2014/main" id="{09E2E9C3-8B94-8FC3-BE30-36A1C906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9">
            <a:extLst>
              <a:ext uri="{FF2B5EF4-FFF2-40B4-BE49-F238E27FC236}">
                <a16:creationId xmlns:a16="http://schemas.microsoft.com/office/drawing/2014/main" id="{15EC4887-AE47-05F5-D89B-9FCFFCB932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Another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DE401E-9E1C-3DC0-F4B5-A535B05F2AC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389395" y="1200150"/>
            <a:ext cx="4024313" cy="19913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711F73-BCA8-6073-9BE6-76F014FF1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504" y="3339891"/>
            <a:ext cx="8554644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814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474A0-CF22-1758-0E79-128F68B5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2E4C3-7049-892B-4381-901E60F534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Right now, we can only enter text to interact with our scripts</a:t>
            </a:r>
          </a:p>
          <a:p>
            <a:r>
              <a:rPr lang="en-US" dirty="0"/>
              <a:t>The input() function waits for the user to type something and hit enter</a:t>
            </a:r>
          </a:p>
          <a:p>
            <a:r>
              <a:rPr lang="en-US" dirty="0"/>
              <a:t>Always gives you a string back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B3A6B97-BA1B-02A4-7AAC-4748382960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08208" y="1200150"/>
            <a:ext cx="4024313" cy="143725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478C26-B49A-27CB-4811-D57B6FEE0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 June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F0E06-6025-180A-AF09-723C24D1B0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AE9CE7-B1F9-651D-0F72-BC41A74D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41" y="3243165"/>
            <a:ext cx="8545118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642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AFD19721-AF14-E39E-39F8-1859741AD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5">
            <a:extLst>
              <a:ext uri="{FF2B5EF4-FFF2-40B4-BE49-F238E27FC236}">
                <a16:creationId xmlns:a16="http://schemas.microsoft.com/office/drawing/2014/main" id="{C6661F13-C124-9E4E-F33B-EEFC6D4EBD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dirty="0"/>
              <a:t>In Class Exercise 3</a:t>
            </a:r>
          </a:p>
        </p:txBody>
      </p:sp>
      <p:sp>
        <p:nvSpPr>
          <p:cNvPr id="320" name="Google Shape;320;p55">
            <a:extLst>
              <a:ext uri="{FF2B5EF4-FFF2-40B4-BE49-F238E27FC236}">
                <a16:creationId xmlns:a16="http://schemas.microsoft.com/office/drawing/2014/main" id="{175D8326-A8E4-EF4B-93CB-524F95EEE7B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11480" y="1200149"/>
            <a:ext cx="8268694" cy="34290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 dirty="0"/>
              <a:t>Write a script that prompts the user for a diameter and outputs the area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Remember to convert from string to another datatype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Stretch goal #1:  write a script that calculates the price per area.  The user should input the diameter and the cost.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Stretch goal #2:  write a script that calculates the best deal.  The user should input three diameters (two for the first deal, one </a:t>
            </a:r>
            <a:r>
              <a:rPr lang="en-US"/>
              <a:t>for the second deal), and the two costs.</a:t>
            </a:r>
            <a:endParaRPr lang="en-US" dirty="0"/>
          </a:p>
          <a:p>
            <a:pPr lvl="0"/>
            <a:endParaRPr lang="en-US" dirty="0"/>
          </a:p>
          <a:p>
            <a:pPr lvl="0"/>
            <a:r>
              <a:rPr lang="en-US" dirty="0"/>
              <a:t>Solutions available in the lesson folder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9456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9BB285-FAC8-125A-8550-25560F66A4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BB461378-5E4E-EAA7-2DA6-FF06B0491E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F127C-DDD5-C7BF-D5E8-90D39B1EDE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 June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82DB0D-94F5-49EC-EC7E-FF3574D6E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93329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</TotalTime>
  <Words>1528</Words>
  <Application>Microsoft Office PowerPoint</Application>
  <PresentationFormat>On-screen Show (16:9)</PresentationFormat>
  <Paragraphs>345</Paragraphs>
  <Slides>42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Arial</vt:lpstr>
      <vt:lpstr>Arial Bold</vt:lpstr>
      <vt:lpstr>Consolas</vt:lpstr>
      <vt:lpstr>Courier New</vt:lpstr>
      <vt:lpstr>Play</vt:lpstr>
      <vt:lpstr>Wingdings</vt:lpstr>
      <vt:lpstr>US Army 2023 AFC DEVCOM Logo</vt:lpstr>
      <vt:lpstr>Environment setup</vt:lpstr>
      <vt:lpstr>PowerPoint Presentation</vt:lpstr>
      <vt:lpstr>AI2C Technician Cohort 7</vt:lpstr>
      <vt:lpstr>Let’s download Python</vt:lpstr>
      <vt:lpstr>Verify the download</vt:lpstr>
      <vt:lpstr>Interactive Python</vt:lpstr>
      <vt:lpstr>Integrated Development Environments (IDE)</vt:lpstr>
      <vt:lpstr>Visual Studio Code</vt:lpstr>
      <vt:lpstr>Running code in VS Code</vt:lpstr>
      <vt:lpstr>Saving Code on the Internet and version control?</vt:lpstr>
      <vt:lpstr>Fork the content for this summer</vt:lpstr>
      <vt:lpstr>Create a fork</vt:lpstr>
      <vt:lpstr>YOUR FORKED REPO!</vt:lpstr>
      <vt:lpstr>CLONE FOR LOCAL DEVELOPMENT</vt:lpstr>
      <vt:lpstr>CLONE FOR LOCAL DEVELOPMENT</vt:lpstr>
      <vt:lpstr>IN VS CODE…</vt:lpstr>
      <vt:lpstr>What did we just do…?</vt:lpstr>
      <vt:lpstr>Take a 5 minute break</vt:lpstr>
      <vt:lpstr>More environment setup</vt:lpstr>
      <vt:lpstr> intro to python</vt:lpstr>
      <vt:lpstr>PowerPoint Presentation</vt:lpstr>
      <vt:lpstr>What is a Program?</vt:lpstr>
      <vt:lpstr>So what is Python?</vt:lpstr>
      <vt:lpstr>The Interpreter</vt:lpstr>
      <vt:lpstr>Data and datatypes</vt:lpstr>
      <vt:lpstr>Spot the Difference</vt:lpstr>
      <vt:lpstr>Data Type Conversion (Casting)</vt:lpstr>
      <vt:lpstr>Operators</vt:lpstr>
      <vt:lpstr>Order of Operations</vt:lpstr>
      <vt:lpstr>In Class Exercise 1</vt:lpstr>
      <vt:lpstr>PowerPoint Presentation</vt:lpstr>
      <vt:lpstr>Variables</vt:lpstr>
      <vt:lpstr>Wait a minute…</vt:lpstr>
      <vt:lpstr>Variable Naming Rules and Conventions</vt:lpstr>
      <vt:lpstr>In Class Exercise 2</vt:lpstr>
      <vt:lpstr>PowerPoint Presentation</vt:lpstr>
      <vt:lpstr>PowerPoint Presentation</vt:lpstr>
      <vt:lpstr>Scripting</vt:lpstr>
      <vt:lpstr>Another Example</vt:lpstr>
      <vt:lpstr>Interacting With Scripts</vt:lpstr>
      <vt:lpstr>In Class Exercise 3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ryan.neville1990@gmail.com</cp:lastModifiedBy>
  <cp:revision>139</cp:revision>
  <dcterms:modified xsi:type="dcterms:W3CDTF">2026-06-01T17:40:38Z</dcterms:modified>
</cp:coreProperties>
</file>