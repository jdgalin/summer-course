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14"/>
  </p:notesMasterIdLst>
  <p:sldIdLst>
    <p:sldId id="256" r:id="rId6"/>
    <p:sldId id="257" r:id="rId7"/>
    <p:sldId id="259" r:id="rId8"/>
    <p:sldId id="258" r:id="rId9"/>
    <p:sldId id="262" r:id="rId10"/>
    <p:sldId id="260" r:id="rId11"/>
    <p:sldId id="26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0EC83-8C30-44C4-7BB3-892BB0B89F42}" v="333" dt="2025-12-23T16:43:35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HTTP and APIs</a:t>
            </a:r>
            <a:endParaRPr lang="en-US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AI2C Tech Intro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JUL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2"/>
                </a:solidFill>
                <a:ea typeface="+mj-lt"/>
                <a:cs typeface="+mj-lt"/>
              </a:rPr>
              <a:t>HyperText</a:t>
            </a:r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 Transfer Protocol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83963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Specified in RFC 1945 (May 1996!)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Consists of clients, servers, requests, and responses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Improvements and modifications over time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57537F-7B23-C29B-0875-0604FB9E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AED14E1-BE52-2905-9B9C-DEBE9C188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The HTTP Protocol: Rules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320C640-1EA2-9BB9-373D-C93F81E39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Client (i.e., browser) always initiates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Server responds, is always listening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One request, one response: Each HTTP exchange is complete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Stateless: Server doesn't remember previous requests (hence cookies needed)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7284D-AD25-38B9-AB90-3FE73CDB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462992-1DAF-E004-2C56-A2CE00229D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11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Examples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Request: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GET /test HTTP/1.1\r\n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Host: example.com\r\n </a:t>
            </a:r>
            <a:endParaRPr lang="en-US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Accept: */*\r\n </a:t>
            </a:r>
            <a:endParaRPr lang="en-US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\r\n </a:t>
            </a:r>
            <a:endParaRPr lang="en-US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{"param"="hello"}\r\n </a:t>
            </a:r>
            <a:endParaRPr lang="en-US" dirty="0">
              <a:solidFill>
                <a:schemeClr val="bg2"/>
              </a:solidFill>
              <a:latin typeface="Courier New"/>
              <a:cs typeface="Arial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E78C1C-E064-347C-2437-40225FA9E3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Response: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HTTP/1.1 404 Not Found\r\n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Server: Apache/2.0.52\r\n </a:t>
            </a:r>
            <a:endParaRPr lang="en-US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Accept-Ranges: bytes\r\n </a:t>
            </a:r>
            <a:endParaRPr lang="en-US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Content-Length: 2652\r\n </a:t>
            </a:r>
            <a:endParaRPr lang="en-US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Content-Type: text/html;\r\n </a:t>
            </a:r>
            <a:endParaRPr lang="en-US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\r\n </a:t>
            </a:r>
            <a:endParaRPr lang="en-US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&lt;!doctype html&gt;&lt;html ... </a:t>
            </a:r>
            <a:endParaRPr lang="en-US" dirty="0">
              <a:solidFill>
                <a:schemeClr val="bg2"/>
              </a:solidFill>
              <a:latin typeface="Courier New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4DBC9-F42B-9609-9FA4-6D74FD91C551}"/>
              </a:ext>
            </a:extLst>
          </p:cNvPr>
          <p:cNvSpPr txBox="1"/>
          <p:nvPr/>
        </p:nvSpPr>
        <p:spPr>
          <a:xfrm>
            <a:off x="5334001" y="407276"/>
            <a:ext cx="6096000" cy="16694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800" baseline="0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Line</a:t>
            </a:r>
            <a:r>
              <a:rPr lang="en-US" sz="2800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800" baseline="0" dirty="0">
                <a:solidFill>
                  <a:srgbClr val="00B0F0"/>
                </a:solidFill>
                <a:latin typeface="Aptos"/>
                <a:ea typeface="Segoe UI"/>
                <a:cs typeface="Segoe UI"/>
              </a:rPr>
              <a:t>Headers</a:t>
            </a:r>
            <a:r>
              <a:rPr lang="en-US" sz="2800" dirty="0">
                <a:solidFill>
                  <a:srgbClr val="00B0F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800" baseline="0" dirty="0">
                <a:solidFill>
                  <a:srgbClr val="00B050"/>
                </a:solidFill>
                <a:latin typeface="Aptos"/>
                <a:ea typeface="Segoe UI"/>
                <a:cs typeface="Segoe UI"/>
              </a:rPr>
              <a:t>Body</a:t>
            </a:r>
          </a:p>
          <a:p>
            <a:pPr marL="182880" indent="-182880" algn="ctr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01BCF3-E2AF-54FC-37EF-FB2F1C481631}"/>
              </a:ext>
            </a:extLst>
          </p:cNvPr>
          <p:cNvSpPr/>
          <p:nvPr/>
        </p:nvSpPr>
        <p:spPr>
          <a:xfrm>
            <a:off x="424649" y="1924517"/>
            <a:ext cx="4257829" cy="5698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241C25-E28D-195C-74C5-B196BF443757}"/>
              </a:ext>
            </a:extLst>
          </p:cNvPr>
          <p:cNvSpPr/>
          <p:nvPr/>
        </p:nvSpPr>
        <p:spPr>
          <a:xfrm>
            <a:off x="6113373" y="1924516"/>
            <a:ext cx="5348277" cy="5829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E3EA7B-9D77-B0F1-067B-31AF0993092D}"/>
              </a:ext>
            </a:extLst>
          </p:cNvPr>
          <p:cNvSpPr/>
          <p:nvPr/>
        </p:nvSpPr>
        <p:spPr>
          <a:xfrm>
            <a:off x="424650" y="2502462"/>
            <a:ext cx="4244691" cy="98191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7F50E6-0161-33DD-F3FF-9F8833F01051}"/>
              </a:ext>
            </a:extLst>
          </p:cNvPr>
          <p:cNvSpPr/>
          <p:nvPr/>
        </p:nvSpPr>
        <p:spPr>
          <a:xfrm>
            <a:off x="6100236" y="2515601"/>
            <a:ext cx="5361415" cy="191471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E7A659-8B15-8C2D-9F6D-48A69DA0398F}"/>
              </a:ext>
            </a:extLst>
          </p:cNvPr>
          <p:cNvSpPr/>
          <p:nvPr/>
        </p:nvSpPr>
        <p:spPr>
          <a:xfrm>
            <a:off x="424650" y="3885246"/>
            <a:ext cx="4257829" cy="55007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92DC21-C6C2-CEB0-4BE8-EFE8B28F0F4D}"/>
              </a:ext>
            </a:extLst>
          </p:cNvPr>
          <p:cNvSpPr/>
          <p:nvPr/>
        </p:nvSpPr>
        <p:spPr>
          <a:xfrm>
            <a:off x="6100236" y="4857451"/>
            <a:ext cx="5361415" cy="51066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9EF0A-0C54-46E3-53A6-A89EE881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86C238-23C2-6F77-CB22-A44753A0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Methods and Codes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E0A5A-1C50-A8F3-69BB-87901971A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9" y="1337441"/>
            <a:ext cx="5364480" cy="4572000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Request Methods:</a:t>
            </a: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Method = "GET”; </a:t>
            </a: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"HEAD"; </a:t>
            </a: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"POST"; </a:t>
            </a:r>
            <a:endParaRPr lang="en-US" sz="2000">
              <a:solidFill>
                <a:schemeClr val="bg2"/>
              </a:solidFill>
              <a:latin typeface="Courier New"/>
              <a:cs typeface="Arial"/>
            </a:endParaRP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extension-method </a:t>
            </a:r>
          </a:p>
          <a:p>
            <a:pPr marL="365760" lvl="2" indent="0">
              <a:buNone/>
            </a:pPr>
            <a:endParaRPr lang="en-US" sz="2000" dirty="0">
              <a:solidFill>
                <a:schemeClr val="bg2"/>
              </a:solidFill>
              <a:cs typeface="Arial"/>
            </a:endParaRPr>
          </a:p>
          <a:p>
            <a:pPr lvl="2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</a:t>
            </a:r>
            <a:endParaRPr lang="en-US" sz="2000">
              <a:solidFill>
                <a:schemeClr val="bg2"/>
              </a:solidFill>
              <a:ea typeface="+mn-lt"/>
              <a:cs typeface="+mn-lt"/>
            </a:endParaRP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US/docs/Web/HTTP/Reference/Methods </a:t>
            </a:r>
          </a:p>
          <a:p>
            <a:pPr marL="365760" lvl="2" indent="0">
              <a:buNone/>
            </a:pPr>
            <a:endParaRPr lang="en-US" sz="2000" dirty="0">
              <a:solidFill>
                <a:schemeClr val="bg2"/>
              </a:solidFill>
              <a:ea typeface="+mn-lt"/>
              <a:cs typeface="+mn-lt"/>
            </a:endParaRPr>
          </a:p>
          <a:p>
            <a:pPr lvl="2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US/docs/Web/HTTP/Reference/Status </a:t>
            </a:r>
            <a:endParaRPr lang="en-US" sz="20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89E538-F37B-F9FD-5E70-3BAB00945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4948" y="1337441"/>
            <a:ext cx="5364480" cy="4572000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1800" dirty="0">
                <a:solidFill>
                  <a:schemeClr val="bg2"/>
                </a:solidFill>
                <a:ea typeface="+mn-lt"/>
                <a:cs typeface="+mn-lt"/>
              </a:rPr>
              <a:t>Response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 Status Code: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Status-Code = "200" ; OK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"201" ; Created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"202" ; Accepted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"204" ; No Content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"301" ; Moved Permanently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"302" ; Moved Temporarily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"304" ; Not Modified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"400" ; Bad Request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"401" ; Unauthorized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"403" ; Forbidden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"404" ; Not Found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"500" ; Internal Server Error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"501" ; Not Implemented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"502" ; Bad Gateway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"503" ; Service Unavailable </a:t>
            </a:r>
            <a:endParaRPr lang="en-US" sz="12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| extension-code </a:t>
            </a:r>
            <a:endParaRPr lang="en-US" sz="1200" dirty="0">
              <a:solidFill>
                <a:schemeClr val="bg2"/>
              </a:solidFill>
              <a:latin typeface="Courier New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4A1E9-480F-02A3-FB9A-AFDF7CCF0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90C2B-0009-785C-2E05-5C3F4696F0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9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9AE10-9CA0-0581-6453-37E458B6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2DB9424-D5CC-45A9-C879-31639D7E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HTTP Tools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50AD643-32B0-B4F2-6B3A-D92660872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telnet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wget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curl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postman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requests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Wireshark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Browser (dev tools too!)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Demo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921BA-32B8-B2B6-5C5D-B366524C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C26921-D4BB-CC5F-8DCE-E74A2AF7F9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5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00DCD-DF3A-10AD-C451-76AEF095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486090C-65FA-CE82-4B53-564D90E3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In python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9379F9D-575B-8E3B-CC33-6CC3A9F91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Uses the requests library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Demo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B2ABCD-CCF9-9EE2-CE7D-0213127B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FA4C53-B099-B7B2-3D7E-EEA1167B24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23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8771-014B-9B09-BBB6-1A338C4F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F2613-712B-6C49-6E6B-E4B00022B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E0F41-FD5A-61BD-874F-CC597DC1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56428-6912-1A9A-1513-C4C18DAB46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4922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Props1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Words>6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US Army 2023 AFC DEVCOM Logo</vt:lpstr>
      <vt:lpstr>HTTP and APIs</vt:lpstr>
      <vt:lpstr>HyperText Transfer Protocol </vt:lpstr>
      <vt:lpstr>The HTTP Protocol: Rules </vt:lpstr>
      <vt:lpstr>Examples </vt:lpstr>
      <vt:lpstr>Methods and Codes </vt:lpstr>
      <vt:lpstr>HTTP Tools </vt:lpstr>
      <vt:lpstr>In python 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Ethan Shafer</cp:lastModifiedBy>
  <cp:revision>166</cp:revision>
  <dcterms:created xsi:type="dcterms:W3CDTF">2024-10-01T14:45:26Z</dcterms:created>
  <dcterms:modified xsi:type="dcterms:W3CDTF">2025-12-23T16:44:14Z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