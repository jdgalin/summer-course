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85" r:id="rId3"/>
    <p:sldId id="1270" r:id="rId4"/>
    <p:sldId id="287" r:id="rId5"/>
    <p:sldId id="1271" r:id="rId6"/>
    <p:sldId id="286" r:id="rId7"/>
    <p:sldId id="1272" r:id="rId8"/>
    <p:sldId id="284"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954" autoAdjust="0"/>
  </p:normalViewPr>
  <p:slideViewPr>
    <p:cSldViewPr snapToGrid="0">
      <p:cViewPr varScale="1">
        <p:scale>
          <a:sx n="91" d="100"/>
          <a:sy n="91" d="100"/>
        </p:scale>
        <p:origin x="48" y="3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2F5B96-EC90-4B10-91AC-E32DA21E81E1}" type="datetimeFigureOut">
              <a:rPr lang="en-US" smtClean="0"/>
              <a:t>05-Nov-25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457D5F-ED05-449E-97D0-205DAB987247}" type="slidenum">
              <a:rPr lang="en-US" smtClean="0"/>
              <a:t>‹#›</a:t>
            </a:fld>
            <a:endParaRPr lang="en-US"/>
          </a:p>
        </p:txBody>
      </p:sp>
    </p:spTree>
    <p:extLst>
      <p:ext uri="{BB962C8B-B14F-4D97-AF65-F5344CB8AC3E}">
        <p14:creationId xmlns:p14="http://schemas.microsoft.com/office/powerpoint/2010/main" val="6065143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https://www.rfc-editor.org/rfc/rfc1945</a:t>
            </a:r>
          </a:p>
        </p:txBody>
      </p:sp>
      <p:sp>
        <p:nvSpPr>
          <p:cNvPr id="4" name="Slide Number Placeholder 3"/>
          <p:cNvSpPr>
            <a:spLocks noGrp="1"/>
          </p:cNvSpPr>
          <p:nvPr>
            <p:ph type="sldNum" sz="quarter" idx="5"/>
          </p:nvPr>
        </p:nvSpPr>
        <p:spPr/>
        <p:txBody>
          <a:bodyPr/>
          <a:lstStyle/>
          <a:p>
            <a:fld id="{BE457D5F-ED05-449E-97D0-205DAB987247}" type="slidenum">
              <a:rPr lang="en-US" smtClean="0"/>
              <a:t>2</a:t>
            </a:fld>
            <a:endParaRPr lang="en-US"/>
          </a:p>
        </p:txBody>
      </p:sp>
    </p:spTree>
    <p:extLst>
      <p:ext uri="{BB962C8B-B14F-4D97-AF65-F5344CB8AC3E}">
        <p14:creationId xmlns:p14="http://schemas.microsoft.com/office/powerpoint/2010/main" val="38371933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has four fundamental rules that govern how communication works. First, the client always initiates. Browsers start every conversation. Second, the server always responds. It must reply to every request, even if just to say 'error'. Third, it's one request, one response. Each HTTP exchange is complete in itself. Fourth, and most importantly, HTTP is stateless - the server doesn't remember previous requests. This is why cookies exist. Without them, you'd have to log in for every single page you visit. </a:t>
            </a:r>
          </a:p>
        </p:txBody>
      </p:sp>
      <p:sp>
        <p:nvSpPr>
          <p:cNvPr id="4" name="Footer Placeholder 3"/>
          <p:cNvSpPr>
            <a:spLocks noGrp="1"/>
          </p:cNvSpPr>
          <p:nvPr>
            <p:ph type="ftr" sz="quarter" idx="4"/>
          </p:nvPr>
        </p:nvSpPr>
        <p:spPr/>
        <p:txBody>
          <a:bodyPr/>
          <a:lstStyle/>
          <a:p>
            <a:pPr>
              <a:defRPr/>
            </a:pPr>
            <a:r>
              <a:rPr lang="en-US"/>
              <a:t>P&amp;NE AIAD Departure Brief</a:t>
            </a:r>
          </a:p>
        </p:txBody>
      </p:sp>
      <p:sp>
        <p:nvSpPr>
          <p:cNvPr id="5" name="Slide Number Placeholder 4"/>
          <p:cNvSpPr>
            <a:spLocks noGrp="1"/>
          </p:cNvSpPr>
          <p:nvPr>
            <p:ph type="sldNum" sz="quarter" idx="5"/>
          </p:nvPr>
        </p:nvSpPr>
        <p:spPr/>
        <p:txBody>
          <a:bodyPr/>
          <a:lstStyle/>
          <a:p>
            <a:pPr>
              <a:defRPr/>
            </a:pPr>
            <a:fld id="{7FE6B1A2-9BDA-4174-9639-C12B0222CFB2}" type="slidenum">
              <a:rPr lang="en-US" smtClean="0"/>
              <a:pPr>
                <a:defRPr/>
              </a:pPr>
              <a:t>3</a:t>
            </a:fld>
            <a:endParaRPr lang="en-US"/>
          </a:p>
        </p:txBody>
      </p:sp>
    </p:spTree>
    <p:extLst>
      <p:ext uri="{BB962C8B-B14F-4D97-AF65-F5344CB8AC3E}">
        <p14:creationId xmlns:p14="http://schemas.microsoft.com/office/powerpoint/2010/main" val="1183947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/test HTTP/1.1</a:t>
            </a:r>
          </a:p>
          <a:p>
            <a:r>
              <a:rPr lang="en-US" dirty="0"/>
              <a:t>Host: example.com</a:t>
            </a:r>
          </a:p>
          <a:p>
            <a:r>
              <a:rPr lang="en-US" dirty="0"/>
              <a:t>Accept: */*</a:t>
            </a:r>
          </a:p>
          <a:p>
            <a:endParaRPr lang="en-US" dirty="0"/>
          </a:p>
          <a:p>
            <a:r>
              <a:rPr lang="en-US" dirty="0"/>
              <a:t>{"param"="hello"}</a:t>
            </a:r>
          </a:p>
          <a:p>
            <a:endParaRPr lang="en-US" dirty="0"/>
          </a:p>
          <a:p>
            <a:endParaRPr lang="en-US" dirty="0"/>
          </a:p>
        </p:txBody>
      </p:sp>
      <p:sp>
        <p:nvSpPr>
          <p:cNvPr id="4" name="Slide Number Placeholder 3"/>
          <p:cNvSpPr>
            <a:spLocks noGrp="1"/>
          </p:cNvSpPr>
          <p:nvPr>
            <p:ph type="sldNum" sz="quarter" idx="5"/>
          </p:nvPr>
        </p:nvSpPr>
        <p:spPr/>
        <p:txBody>
          <a:bodyPr/>
          <a:lstStyle/>
          <a:p>
            <a:fld id="{BE457D5F-ED05-449E-97D0-205DAB987247}" type="slidenum">
              <a:rPr lang="en-US" smtClean="0"/>
              <a:t>4</a:t>
            </a:fld>
            <a:endParaRPr lang="en-US"/>
          </a:p>
        </p:txBody>
      </p:sp>
    </p:spTree>
    <p:extLst>
      <p:ext uri="{BB962C8B-B14F-4D97-AF65-F5344CB8AC3E}">
        <p14:creationId xmlns:p14="http://schemas.microsoft.com/office/powerpoint/2010/main" val="13726148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https://www.rfc-editor.org/rfc/rfc1945#section-5</a:t>
            </a:r>
          </a:p>
        </p:txBody>
      </p:sp>
      <p:sp>
        <p:nvSpPr>
          <p:cNvPr id="4" name="Slide Number Placeholder 3"/>
          <p:cNvSpPr>
            <a:spLocks noGrp="1"/>
          </p:cNvSpPr>
          <p:nvPr>
            <p:ph type="sldNum" sz="quarter" idx="5"/>
          </p:nvPr>
        </p:nvSpPr>
        <p:spPr/>
        <p:txBody>
          <a:bodyPr/>
          <a:lstStyle/>
          <a:p>
            <a:fld id="{BE457D5F-ED05-449E-97D0-205DAB987247}" type="slidenum">
              <a:rPr lang="en-US" smtClean="0"/>
              <a:t>5</a:t>
            </a:fld>
            <a:endParaRPr lang="en-US"/>
          </a:p>
        </p:txBody>
      </p:sp>
    </p:spTree>
    <p:extLst>
      <p:ext uri="{BB962C8B-B14F-4D97-AF65-F5344CB8AC3E}">
        <p14:creationId xmlns:p14="http://schemas.microsoft.com/office/powerpoint/2010/main" val="13851791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an HTTP that returns HTML and one that returns a JSON response</a:t>
            </a:r>
          </a:p>
        </p:txBody>
      </p:sp>
      <p:sp>
        <p:nvSpPr>
          <p:cNvPr id="4" name="Slide Number Placeholder 3"/>
          <p:cNvSpPr>
            <a:spLocks noGrp="1"/>
          </p:cNvSpPr>
          <p:nvPr>
            <p:ph type="sldNum" sz="quarter" idx="5"/>
          </p:nvPr>
        </p:nvSpPr>
        <p:spPr/>
        <p:txBody>
          <a:bodyPr/>
          <a:lstStyle/>
          <a:p>
            <a:fld id="{BE457D5F-ED05-449E-97D0-205DAB987247}" type="slidenum">
              <a:rPr lang="en-US" smtClean="0"/>
              <a:t>6</a:t>
            </a:fld>
            <a:endParaRPr lang="en-US"/>
          </a:p>
        </p:txBody>
      </p:sp>
    </p:spTree>
    <p:extLst>
      <p:ext uri="{BB962C8B-B14F-4D97-AF65-F5344CB8AC3E}">
        <p14:creationId xmlns:p14="http://schemas.microsoft.com/office/powerpoint/2010/main" val="39423483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A7085-A543-8085-1544-240C54D586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857458A-EEE9-CEDC-C931-6AB829F8D46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CD36306-7BF7-4035-47E9-00E6CCC1E70E}"/>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5" name="Footer Placeholder 4">
            <a:extLst>
              <a:ext uri="{FF2B5EF4-FFF2-40B4-BE49-F238E27FC236}">
                <a16:creationId xmlns:a16="http://schemas.microsoft.com/office/drawing/2014/main" id="{33AC7D91-1D65-2565-8F6A-B48AC84CDD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0C386-662B-DF8A-5482-A5AAC6F016D8}"/>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40084615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956C0-4CFE-91BE-4B30-D211D39B3D3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F7B759D-0F84-ED09-24DA-C72813FE8BF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F5861C-9345-6F47-7687-CB663CAC64C5}"/>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5" name="Footer Placeholder 4">
            <a:extLst>
              <a:ext uri="{FF2B5EF4-FFF2-40B4-BE49-F238E27FC236}">
                <a16:creationId xmlns:a16="http://schemas.microsoft.com/office/drawing/2014/main" id="{DF97B3D8-DDB3-531E-4B15-507DE71D61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42196B-1038-1927-157B-100D2EF4F1F8}"/>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2750368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D8C2E-661D-51E2-ED90-348CF28AB4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3F99564-2BF9-8DCD-A28E-9381CAF6CA4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BA3C069-210D-286C-4C3D-4A1E6D372734}"/>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5" name="Footer Placeholder 4">
            <a:extLst>
              <a:ext uri="{FF2B5EF4-FFF2-40B4-BE49-F238E27FC236}">
                <a16:creationId xmlns:a16="http://schemas.microsoft.com/office/drawing/2014/main" id="{987C136A-C674-A923-5AF9-6FA9114037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49792A-A4FA-3A54-7252-A8321589E8EB}"/>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73203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CCE23-DF7C-6906-24C3-CF1C66F0AC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C6F6F46-A4F4-9212-D5AE-2A768FC521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35690C-1D12-A35F-F15A-E42B5D4C1A9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88C3D2B-FE52-0014-B507-BF942CF6ED0F}"/>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6" name="Footer Placeholder 5">
            <a:extLst>
              <a:ext uri="{FF2B5EF4-FFF2-40B4-BE49-F238E27FC236}">
                <a16:creationId xmlns:a16="http://schemas.microsoft.com/office/drawing/2014/main" id="{C5D45E52-0AAB-5533-9208-A90B47141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00B08A-6C74-4624-354A-9E8A77A7A9F1}"/>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3561868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9991F-A102-D529-F5F3-F565450D34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E82BD4B-E36D-639B-C3EF-66780F5AD31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E2C8D3-6873-2A71-0439-0476204F618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279A89A-D222-0EDC-DDB7-F83FD8CF4B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72DF1B-F1BF-14ED-1E9E-31E4D798C71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10DD9C-5FB3-3919-F6E2-64A9C39F559A}"/>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8" name="Footer Placeholder 7">
            <a:extLst>
              <a:ext uri="{FF2B5EF4-FFF2-40B4-BE49-F238E27FC236}">
                <a16:creationId xmlns:a16="http://schemas.microsoft.com/office/drawing/2014/main" id="{036FC7C1-92D4-033D-4354-DFBADC84D65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E4D3D73-AEE1-83F3-0176-B9104BAC2903}"/>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38857026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29DB6-6922-4725-43EF-F67CBC5F6A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0AB6C9-24F0-9342-197B-A932797C8A06}"/>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4" name="Footer Placeholder 3">
            <a:extLst>
              <a:ext uri="{FF2B5EF4-FFF2-40B4-BE49-F238E27FC236}">
                <a16:creationId xmlns:a16="http://schemas.microsoft.com/office/drawing/2014/main" id="{08AE1ADB-6760-2A7D-0ACD-E044128F71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4931D80-BC88-E12E-2DB8-87FB82DA0BD7}"/>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3067818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DD99483-1C3F-BD57-B2A9-1BA69103A012}"/>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3" name="Footer Placeholder 2">
            <a:extLst>
              <a:ext uri="{FF2B5EF4-FFF2-40B4-BE49-F238E27FC236}">
                <a16:creationId xmlns:a16="http://schemas.microsoft.com/office/drawing/2014/main" id="{DE200055-5584-24DE-2FF9-2620C7563D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0796618-78B7-1E1B-A287-B473D132DFE4}"/>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297387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47B77-CBF7-E8D7-1D00-495EE001DA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3DD2AE6-738E-DFA8-01F0-F009F2E0CB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253BAA-7D53-AC5A-F185-836DB39B27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606637-72D4-AF03-86C9-3A2832F39D47}"/>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6" name="Footer Placeholder 5">
            <a:extLst>
              <a:ext uri="{FF2B5EF4-FFF2-40B4-BE49-F238E27FC236}">
                <a16:creationId xmlns:a16="http://schemas.microsoft.com/office/drawing/2014/main" id="{975F1B3C-B6CD-72BC-69AE-405F440AA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566A25-1DBF-1DCB-2BD6-A70E96146099}"/>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3403972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40445-879C-92E5-6B7B-8507B504CE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A401DA1-B102-A093-18A6-B6C66A29A9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029DF4-D471-475F-5358-3FAEC6BE9F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1EBFAD-3177-C657-702B-130BF2B5270F}"/>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6" name="Footer Placeholder 5">
            <a:extLst>
              <a:ext uri="{FF2B5EF4-FFF2-40B4-BE49-F238E27FC236}">
                <a16:creationId xmlns:a16="http://schemas.microsoft.com/office/drawing/2014/main" id="{66BCD079-4BC7-FC93-203B-C8405920AA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33BD89-486D-38B4-C773-4D05F0C914AD}"/>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1147153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67BE4-44D3-3069-4D42-00B55E7AE75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AA484E9-7D5C-6603-355E-3CFB7EFE0B6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C53D10-7A99-BD66-FAAA-912C5E0823FD}"/>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5" name="Footer Placeholder 4">
            <a:extLst>
              <a:ext uri="{FF2B5EF4-FFF2-40B4-BE49-F238E27FC236}">
                <a16:creationId xmlns:a16="http://schemas.microsoft.com/office/drawing/2014/main" id="{D9CAD495-463B-0021-AB85-9520825A02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926A99-D7CF-3CCE-91C4-B422E04C015A}"/>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39719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14E568-3BE8-6C1C-6B3B-5B491670E82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37A1CEF-C9D0-EDE0-FC90-0B41959D915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15381B-F05C-BEA7-483E-FB8932AE6D02}"/>
              </a:ext>
            </a:extLst>
          </p:cNvPr>
          <p:cNvSpPr>
            <a:spLocks noGrp="1"/>
          </p:cNvSpPr>
          <p:nvPr>
            <p:ph type="dt" sz="half" idx="10"/>
          </p:nvPr>
        </p:nvSpPr>
        <p:spPr/>
        <p:txBody>
          <a:bodyPr/>
          <a:lstStyle/>
          <a:p>
            <a:fld id="{AD3160A9-B1E4-4AE8-B854-46ED2C2068C2}" type="datetimeFigureOut">
              <a:rPr lang="en-US" smtClean="0"/>
              <a:t>05-Nov-25</a:t>
            </a:fld>
            <a:endParaRPr lang="en-US"/>
          </a:p>
        </p:txBody>
      </p:sp>
      <p:sp>
        <p:nvSpPr>
          <p:cNvPr id="5" name="Footer Placeholder 4">
            <a:extLst>
              <a:ext uri="{FF2B5EF4-FFF2-40B4-BE49-F238E27FC236}">
                <a16:creationId xmlns:a16="http://schemas.microsoft.com/office/drawing/2014/main" id="{7D9DED9A-0109-B5EB-1DBC-E510E98E12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F34DDE-FDED-4949-2B3B-96D60B33C8FC}"/>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23225286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31B8D3-CA1F-4ABC-EDE8-8F6B2885ED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36BE1D-977A-0803-690E-23FADAF721E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CA8AE9-7EC8-F185-B68B-BC6D04D433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3160A9-B1E4-4AE8-B854-46ED2C2068C2}" type="datetimeFigureOut">
              <a:rPr lang="en-US" smtClean="0"/>
              <a:t>05-Nov-25</a:t>
            </a:fld>
            <a:endParaRPr lang="en-US"/>
          </a:p>
        </p:txBody>
      </p:sp>
      <p:sp>
        <p:nvSpPr>
          <p:cNvPr id="5" name="Footer Placeholder 4">
            <a:extLst>
              <a:ext uri="{FF2B5EF4-FFF2-40B4-BE49-F238E27FC236}">
                <a16:creationId xmlns:a16="http://schemas.microsoft.com/office/drawing/2014/main" id="{E3F14104-A166-C9B5-DE49-E8A7EA6809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18BC88-2275-FC35-87B1-B849515591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8A7335-5433-4415-8B36-CAD16441EE2E}" type="slidenum">
              <a:rPr lang="en-US" smtClean="0"/>
              <a:t>‹#›</a:t>
            </a:fld>
            <a:endParaRPr lang="en-US"/>
          </a:p>
        </p:txBody>
      </p:sp>
    </p:spTree>
    <p:extLst>
      <p:ext uri="{BB962C8B-B14F-4D97-AF65-F5344CB8AC3E}">
        <p14:creationId xmlns:p14="http://schemas.microsoft.com/office/powerpoint/2010/main" val="3415447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81ACD-6120-D6F0-670E-BB0ECB337F17}"/>
              </a:ext>
            </a:extLst>
          </p:cNvPr>
          <p:cNvSpPr>
            <a:spLocks noGrp="1"/>
          </p:cNvSpPr>
          <p:nvPr>
            <p:ph type="ctrTitle"/>
          </p:nvPr>
        </p:nvSpPr>
        <p:spPr/>
        <p:txBody>
          <a:bodyPr/>
          <a:lstStyle/>
          <a:p>
            <a:r>
              <a:rPr lang="en-US" dirty="0"/>
              <a:t>HTTP and APIs</a:t>
            </a:r>
          </a:p>
        </p:txBody>
      </p:sp>
      <p:sp>
        <p:nvSpPr>
          <p:cNvPr id="3" name="Subtitle 2">
            <a:extLst>
              <a:ext uri="{FF2B5EF4-FFF2-40B4-BE49-F238E27FC236}">
                <a16:creationId xmlns:a16="http://schemas.microsoft.com/office/drawing/2014/main" id="{BA03A6A7-B911-5528-D8B0-F857E7157562}"/>
              </a:ext>
            </a:extLst>
          </p:cNvPr>
          <p:cNvSpPr>
            <a:spLocks noGrp="1"/>
          </p:cNvSpPr>
          <p:nvPr>
            <p:ph type="subTitle" idx="1"/>
          </p:nvPr>
        </p:nvSpPr>
        <p:spPr/>
        <p:txBody>
          <a:bodyPr/>
          <a:lstStyle/>
          <a:p>
            <a:r>
              <a:rPr lang="en-US" dirty="0"/>
              <a:t>AI2C Techs</a:t>
            </a:r>
          </a:p>
        </p:txBody>
      </p:sp>
    </p:spTree>
    <p:extLst>
      <p:ext uri="{BB962C8B-B14F-4D97-AF65-F5344CB8AC3E}">
        <p14:creationId xmlns:p14="http://schemas.microsoft.com/office/powerpoint/2010/main" val="4051228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E610B-6F88-D983-B674-135072AE0D00}"/>
              </a:ext>
            </a:extLst>
          </p:cNvPr>
          <p:cNvSpPr>
            <a:spLocks noGrp="1"/>
          </p:cNvSpPr>
          <p:nvPr>
            <p:ph type="title"/>
          </p:nvPr>
        </p:nvSpPr>
        <p:spPr/>
        <p:txBody>
          <a:bodyPr/>
          <a:lstStyle/>
          <a:p>
            <a:r>
              <a:rPr lang="en-US" dirty="0" err="1"/>
              <a:t>HyperText</a:t>
            </a:r>
            <a:r>
              <a:rPr lang="en-US" dirty="0"/>
              <a:t> Transfer Protocol</a:t>
            </a:r>
          </a:p>
        </p:txBody>
      </p:sp>
      <p:sp>
        <p:nvSpPr>
          <p:cNvPr id="4" name="Content Placeholder 3">
            <a:extLst>
              <a:ext uri="{FF2B5EF4-FFF2-40B4-BE49-F238E27FC236}">
                <a16:creationId xmlns:a16="http://schemas.microsoft.com/office/drawing/2014/main" id="{86702865-14F7-75BA-971C-7F030292EED0}"/>
              </a:ext>
            </a:extLst>
          </p:cNvPr>
          <p:cNvSpPr>
            <a:spLocks noGrp="1"/>
          </p:cNvSpPr>
          <p:nvPr>
            <p:ph sz="half" idx="1"/>
          </p:nvPr>
        </p:nvSpPr>
        <p:spPr/>
        <p:txBody>
          <a:bodyPr>
            <a:normAutofit/>
          </a:bodyPr>
          <a:lstStyle/>
          <a:p>
            <a:r>
              <a:rPr lang="en-US" dirty="0"/>
              <a:t>Specified in RFC 1945 (May 1996!)</a:t>
            </a:r>
          </a:p>
          <a:p>
            <a:r>
              <a:rPr lang="en-US" dirty="0"/>
              <a:t>Consists of clients, servers, requests, and responses</a:t>
            </a:r>
          </a:p>
          <a:p>
            <a:endParaRPr lang="en-US" dirty="0"/>
          </a:p>
          <a:p>
            <a:endParaRPr lang="en-US" dirty="0"/>
          </a:p>
          <a:p>
            <a:pPr marL="0" indent="0">
              <a:buNone/>
            </a:pPr>
            <a:endParaRPr lang="en-US" dirty="0"/>
          </a:p>
          <a:p>
            <a:r>
              <a:rPr lang="en-US" dirty="0"/>
              <a:t>Improvements and modifications over time</a:t>
            </a:r>
          </a:p>
        </p:txBody>
      </p:sp>
      <p:sp>
        <p:nvSpPr>
          <p:cNvPr id="5" name="Content Placeholder 4">
            <a:extLst>
              <a:ext uri="{FF2B5EF4-FFF2-40B4-BE49-F238E27FC236}">
                <a16:creationId xmlns:a16="http://schemas.microsoft.com/office/drawing/2014/main" id="{1475D19F-3286-8B19-BF81-02E78787D111}"/>
              </a:ext>
            </a:extLst>
          </p:cNvPr>
          <p:cNvSpPr>
            <a:spLocks noGrp="1"/>
          </p:cNvSpPr>
          <p:nvPr>
            <p:ph sz="half" idx="2"/>
          </p:nvPr>
        </p:nvSpPr>
        <p:spPr/>
        <p:txBody>
          <a:bodyPr>
            <a:normAutofit/>
          </a:bodyPr>
          <a:lstStyle/>
          <a:p>
            <a:pPr marL="0" indent="0">
              <a:buNone/>
            </a:pP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708550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DFBA4-0899-E93F-4542-EB3DD0EC6E77}"/>
              </a:ext>
            </a:extLst>
          </p:cNvPr>
          <p:cNvSpPr>
            <a:spLocks noGrp="1"/>
          </p:cNvSpPr>
          <p:nvPr>
            <p:ph type="title"/>
          </p:nvPr>
        </p:nvSpPr>
        <p:spPr>
          <a:xfrm>
            <a:off x="838200" y="365125"/>
            <a:ext cx="10515600" cy="1325563"/>
          </a:xfrm>
        </p:spPr>
        <p:txBody>
          <a:bodyPr/>
          <a:lstStyle/>
          <a:p>
            <a:r>
              <a:rPr lang="en-US" dirty="0"/>
              <a:t>The HTTP Protocol: Rules</a:t>
            </a:r>
          </a:p>
        </p:txBody>
      </p:sp>
      <p:sp>
        <p:nvSpPr>
          <p:cNvPr id="6" name="Content Placeholder 5">
            <a:extLst>
              <a:ext uri="{FF2B5EF4-FFF2-40B4-BE49-F238E27FC236}">
                <a16:creationId xmlns:a16="http://schemas.microsoft.com/office/drawing/2014/main" id="{745EF396-9221-44E1-86A4-5D17C59D303F}"/>
              </a:ext>
            </a:extLst>
          </p:cNvPr>
          <p:cNvSpPr>
            <a:spLocks noGrp="1"/>
          </p:cNvSpPr>
          <p:nvPr>
            <p:ph idx="1"/>
          </p:nvPr>
        </p:nvSpPr>
        <p:spPr>
          <a:xfrm>
            <a:off x="838200" y="1825625"/>
            <a:ext cx="10515600" cy="4351338"/>
          </a:xfrm>
        </p:spPr>
        <p:txBody>
          <a:bodyPr/>
          <a:lstStyle/>
          <a:p>
            <a:r>
              <a:rPr lang="en-US" dirty="0"/>
              <a:t>Client (i.e., browser) always initiates</a:t>
            </a:r>
          </a:p>
          <a:p>
            <a:r>
              <a:rPr lang="en-US" dirty="0"/>
              <a:t>Server responds, is always listening</a:t>
            </a:r>
          </a:p>
          <a:p>
            <a:r>
              <a:rPr lang="en-US" dirty="0"/>
              <a:t>One request, one response: Each HTTP exchange is complete</a:t>
            </a:r>
          </a:p>
          <a:p>
            <a:r>
              <a:rPr lang="en-US" dirty="0"/>
              <a:t>Stateless: Server doesn't remember previous requests (hence cookies needed)</a:t>
            </a:r>
          </a:p>
        </p:txBody>
      </p:sp>
      <p:sp>
        <p:nvSpPr>
          <p:cNvPr id="5" name="Footer Placeholder 4">
            <a:extLst>
              <a:ext uri="{FF2B5EF4-FFF2-40B4-BE49-F238E27FC236}">
                <a16:creationId xmlns:a16="http://schemas.microsoft.com/office/drawing/2014/main" id="{DB13F2E3-E2EB-EEAA-C805-29B02A2DE485}"/>
              </a:ext>
            </a:extLst>
          </p:cNvPr>
          <p:cNvSpPr>
            <a:spLocks noGrp="1"/>
          </p:cNvSpPr>
          <p:nvPr>
            <p:ph type="dt" sz="half" idx="10"/>
          </p:nvPr>
        </p:nvSpPr>
        <p:spPr>
          <a:xfrm>
            <a:off x="838200" y="6356350"/>
            <a:ext cx="2743200" cy="365125"/>
          </a:xfrm>
        </p:spPr>
        <p:txBody>
          <a:bodyPr/>
          <a:lstStyle/>
          <a:p>
            <a:r>
              <a:rPr lang="en-US"/>
              <a:t>CY350: Computer Networks</a:t>
            </a:r>
            <a:endParaRPr lang="en-US" dirty="0"/>
          </a:p>
        </p:txBody>
      </p:sp>
      <p:sp>
        <p:nvSpPr>
          <p:cNvPr id="4" name="Slide Number Placeholder 3">
            <a:extLst>
              <a:ext uri="{FF2B5EF4-FFF2-40B4-BE49-F238E27FC236}">
                <a16:creationId xmlns:a16="http://schemas.microsoft.com/office/drawing/2014/main" id="{C0D5835E-E76F-CE56-A9F3-246210D46B51}"/>
              </a:ext>
            </a:extLst>
          </p:cNvPr>
          <p:cNvSpPr>
            <a:spLocks noGrp="1"/>
          </p:cNvSpPr>
          <p:nvPr>
            <p:ph type="ftr" sz="quarter" idx="11"/>
          </p:nvPr>
        </p:nvSpPr>
        <p:spPr>
          <a:xfrm>
            <a:off x="4038600" y="6356350"/>
            <a:ext cx="4114800" cy="365125"/>
          </a:xfrm>
        </p:spPr>
        <p:txBody>
          <a:bodyPr/>
          <a:lstStyle/>
          <a:p>
            <a:fld id="{BE432D27-6A75-4E94-935C-DB475393A8B5}" type="slidenum">
              <a:rPr lang="en-US" smtClean="0"/>
              <a:pPr/>
              <a:t>3</a:t>
            </a:fld>
            <a:endParaRPr lang="en-US"/>
          </a:p>
        </p:txBody>
      </p:sp>
      <p:sp>
        <p:nvSpPr>
          <p:cNvPr id="3" name="Date Placeholder 2">
            <a:extLst>
              <a:ext uri="{FF2B5EF4-FFF2-40B4-BE49-F238E27FC236}">
                <a16:creationId xmlns:a16="http://schemas.microsoft.com/office/drawing/2014/main" id="{25C6F924-DC1E-8F05-FCA3-DFE1F561E22E}"/>
              </a:ext>
            </a:extLst>
          </p:cNvPr>
          <p:cNvSpPr>
            <a:spLocks noGrp="1"/>
          </p:cNvSpPr>
          <p:nvPr>
            <p:ph type="sldNum" sz="quarter" idx="12"/>
          </p:nvPr>
        </p:nvSpPr>
        <p:spPr>
          <a:xfrm>
            <a:off x="8610600" y="6356350"/>
            <a:ext cx="2743200" cy="365125"/>
          </a:xfrm>
        </p:spPr>
        <p:txBody>
          <a:bodyPr/>
          <a:lstStyle/>
          <a:p>
            <a:endParaRPr lang="en-US"/>
          </a:p>
        </p:txBody>
      </p:sp>
    </p:spTree>
    <p:extLst>
      <p:ext uri="{BB962C8B-B14F-4D97-AF65-F5344CB8AC3E}">
        <p14:creationId xmlns:p14="http://schemas.microsoft.com/office/powerpoint/2010/main" val="3532679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FE45E-C85E-B620-26D8-24A63C4E8770}"/>
              </a:ext>
            </a:extLst>
          </p:cNvPr>
          <p:cNvSpPr>
            <a:spLocks noGrp="1"/>
          </p:cNvSpPr>
          <p:nvPr>
            <p:ph type="title"/>
          </p:nvPr>
        </p:nvSpPr>
        <p:spPr/>
        <p:txBody>
          <a:bodyPr/>
          <a:lstStyle/>
          <a:p>
            <a:r>
              <a:rPr lang="en-US" dirty="0"/>
              <a:t>Examples</a:t>
            </a:r>
          </a:p>
        </p:txBody>
      </p:sp>
      <p:sp>
        <p:nvSpPr>
          <p:cNvPr id="5" name="Text Placeholder 4">
            <a:extLst>
              <a:ext uri="{FF2B5EF4-FFF2-40B4-BE49-F238E27FC236}">
                <a16:creationId xmlns:a16="http://schemas.microsoft.com/office/drawing/2014/main" id="{17D52994-45D3-B643-C17D-36AA72A9EE75}"/>
              </a:ext>
            </a:extLst>
          </p:cNvPr>
          <p:cNvSpPr>
            <a:spLocks noGrp="1"/>
          </p:cNvSpPr>
          <p:nvPr>
            <p:ph type="body" idx="1"/>
          </p:nvPr>
        </p:nvSpPr>
        <p:spPr>
          <a:xfrm>
            <a:off x="148753" y="1681163"/>
            <a:ext cx="5157787" cy="823912"/>
          </a:xfrm>
        </p:spPr>
        <p:txBody>
          <a:bodyPr/>
          <a:lstStyle/>
          <a:p>
            <a:r>
              <a:rPr lang="en-US" dirty="0"/>
              <a:t>Request</a:t>
            </a:r>
          </a:p>
        </p:txBody>
      </p:sp>
      <p:sp>
        <p:nvSpPr>
          <p:cNvPr id="6" name="Content Placeholder 5">
            <a:extLst>
              <a:ext uri="{FF2B5EF4-FFF2-40B4-BE49-F238E27FC236}">
                <a16:creationId xmlns:a16="http://schemas.microsoft.com/office/drawing/2014/main" id="{8475756D-21F1-034B-8FD3-FA2291E62496}"/>
              </a:ext>
            </a:extLst>
          </p:cNvPr>
          <p:cNvSpPr>
            <a:spLocks noGrp="1"/>
          </p:cNvSpPr>
          <p:nvPr>
            <p:ph sz="half" idx="2"/>
          </p:nvPr>
        </p:nvSpPr>
        <p:spPr>
          <a:xfrm>
            <a:off x="148753" y="2505075"/>
            <a:ext cx="5157787" cy="3684588"/>
          </a:xfrm>
        </p:spPr>
        <p:txBody>
          <a:bodyPr>
            <a:normAutofit/>
          </a:bodyPr>
          <a:lstStyle/>
          <a:p>
            <a:pPr marL="0" indent="0">
              <a:buNone/>
            </a:pPr>
            <a:r>
              <a:rPr lang="en-US" dirty="0">
                <a:latin typeface="Courier New" panose="02070309020205020404" pitchFamily="49" charset="0"/>
                <a:cs typeface="Courier New" panose="02070309020205020404" pitchFamily="49" charset="0"/>
              </a:rPr>
              <a:t>GET /test HTTP/1.1\r\n</a:t>
            </a:r>
          </a:p>
          <a:p>
            <a:pPr marL="0" indent="0">
              <a:buNone/>
            </a:pPr>
            <a:r>
              <a:rPr lang="en-US" dirty="0">
                <a:latin typeface="Courier New" panose="02070309020205020404" pitchFamily="49" charset="0"/>
                <a:cs typeface="Courier New" panose="02070309020205020404" pitchFamily="49" charset="0"/>
              </a:rPr>
              <a:t>Host: example.com\r\n</a:t>
            </a:r>
          </a:p>
          <a:p>
            <a:pPr marL="0" indent="0">
              <a:buNone/>
            </a:pPr>
            <a:r>
              <a:rPr lang="en-US" dirty="0">
                <a:latin typeface="Courier New" panose="02070309020205020404" pitchFamily="49" charset="0"/>
                <a:cs typeface="Courier New" panose="02070309020205020404" pitchFamily="49" charset="0"/>
              </a:rPr>
              <a:t>Accept: */*\r\n</a:t>
            </a:r>
          </a:p>
          <a:p>
            <a:pPr marL="0" indent="0">
              <a:buNone/>
            </a:pPr>
            <a:r>
              <a:rPr lang="en-US" dirty="0">
                <a:latin typeface="Courier New" panose="02070309020205020404" pitchFamily="49" charset="0"/>
                <a:cs typeface="Courier New" panose="02070309020205020404" pitchFamily="49" charset="0"/>
              </a:rPr>
              <a:t>\r\n</a:t>
            </a:r>
          </a:p>
          <a:p>
            <a:pPr marL="0" indent="0">
              <a:buNone/>
            </a:pPr>
            <a:r>
              <a:rPr lang="en-US" dirty="0">
                <a:latin typeface="Courier New" panose="02070309020205020404" pitchFamily="49" charset="0"/>
                <a:cs typeface="Courier New" panose="02070309020205020404" pitchFamily="49" charset="0"/>
              </a:rPr>
              <a:t>{"param"="hello"}\r\n</a:t>
            </a:r>
          </a:p>
          <a:p>
            <a:pPr marL="0" indent="0">
              <a:buNone/>
            </a:pPr>
            <a:endParaRPr lang="en-US" dirty="0">
              <a:latin typeface="Courier New" panose="02070309020205020404" pitchFamily="49" charset="0"/>
              <a:cs typeface="Courier New" panose="02070309020205020404" pitchFamily="49" charset="0"/>
            </a:endParaRPr>
          </a:p>
          <a:p>
            <a:endParaRPr lang="en-US" dirty="0"/>
          </a:p>
        </p:txBody>
      </p:sp>
      <p:sp>
        <p:nvSpPr>
          <p:cNvPr id="7" name="Text Placeholder 6">
            <a:extLst>
              <a:ext uri="{FF2B5EF4-FFF2-40B4-BE49-F238E27FC236}">
                <a16:creationId xmlns:a16="http://schemas.microsoft.com/office/drawing/2014/main" id="{9CD86912-9B87-13C6-250E-926BC57C5943}"/>
              </a:ext>
            </a:extLst>
          </p:cNvPr>
          <p:cNvSpPr>
            <a:spLocks noGrp="1"/>
          </p:cNvSpPr>
          <p:nvPr>
            <p:ph type="body" sz="quarter" idx="3"/>
          </p:nvPr>
        </p:nvSpPr>
        <p:spPr>
          <a:xfrm>
            <a:off x="5423578" y="1687089"/>
            <a:ext cx="5183188" cy="823912"/>
          </a:xfrm>
        </p:spPr>
        <p:txBody>
          <a:bodyPr/>
          <a:lstStyle/>
          <a:p>
            <a:r>
              <a:rPr lang="en-US" dirty="0"/>
              <a:t>Response</a:t>
            </a:r>
          </a:p>
        </p:txBody>
      </p:sp>
      <p:sp>
        <p:nvSpPr>
          <p:cNvPr id="8" name="Content Placeholder 7">
            <a:extLst>
              <a:ext uri="{FF2B5EF4-FFF2-40B4-BE49-F238E27FC236}">
                <a16:creationId xmlns:a16="http://schemas.microsoft.com/office/drawing/2014/main" id="{B0EAED91-6841-39BB-9F0C-96EFB627CDF1}"/>
              </a:ext>
            </a:extLst>
          </p:cNvPr>
          <p:cNvSpPr>
            <a:spLocks noGrp="1"/>
          </p:cNvSpPr>
          <p:nvPr>
            <p:ph sz="quarter" idx="4"/>
          </p:nvPr>
        </p:nvSpPr>
        <p:spPr>
          <a:xfrm>
            <a:off x="5423578" y="2505075"/>
            <a:ext cx="6463621" cy="3684588"/>
          </a:xfrm>
        </p:spPr>
        <p:txBody>
          <a:bodyPr>
            <a:normAutofit/>
          </a:bodyPr>
          <a:lstStyle/>
          <a:p>
            <a:pPr marL="0" indent="0">
              <a:buNone/>
            </a:pPr>
            <a:r>
              <a:rPr lang="en-US" dirty="0">
                <a:latin typeface="Courier New" panose="02070309020205020404" pitchFamily="49" charset="0"/>
                <a:cs typeface="Courier New" panose="02070309020205020404" pitchFamily="49" charset="0"/>
              </a:rPr>
              <a:t>HTTP/1.1 404 Not Found\r\n</a:t>
            </a:r>
          </a:p>
          <a:p>
            <a:pPr marL="0" indent="0">
              <a:buNone/>
            </a:pPr>
            <a:r>
              <a:rPr lang="en-US" dirty="0">
                <a:latin typeface="Courier New" panose="02070309020205020404" pitchFamily="49" charset="0"/>
                <a:cs typeface="Courier New" panose="02070309020205020404" pitchFamily="49" charset="0"/>
              </a:rPr>
              <a:t>Server: Apache/2.0.52\r\n</a:t>
            </a:r>
          </a:p>
          <a:p>
            <a:pPr marL="0" indent="0">
              <a:buNone/>
            </a:pPr>
            <a:r>
              <a:rPr lang="en-US" dirty="0">
                <a:latin typeface="Courier New" panose="02070309020205020404" pitchFamily="49" charset="0"/>
                <a:cs typeface="Courier New" panose="02070309020205020404" pitchFamily="49" charset="0"/>
              </a:rPr>
              <a:t>Accept-Ranges: bytes\r\n</a:t>
            </a:r>
          </a:p>
          <a:p>
            <a:pPr marL="0" indent="0">
              <a:buNone/>
            </a:pPr>
            <a:r>
              <a:rPr lang="en-US" dirty="0">
                <a:latin typeface="Courier New" panose="02070309020205020404" pitchFamily="49" charset="0"/>
                <a:cs typeface="Courier New" panose="02070309020205020404" pitchFamily="49" charset="0"/>
              </a:rPr>
              <a:t>Content-Length: 2652\r\n</a:t>
            </a:r>
          </a:p>
          <a:p>
            <a:pPr marL="0" indent="0">
              <a:buNone/>
            </a:pPr>
            <a:r>
              <a:rPr lang="en-US" dirty="0">
                <a:latin typeface="Courier New" panose="02070309020205020404" pitchFamily="49" charset="0"/>
                <a:cs typeface="Courier New" panose="02070309020205020404" pitchFamily="49" charset="0"/>
              </a:rPr>
              <a:t>Content-Type: text/html;\r\n</a:t>
            </a:r>
          </a:p>
          <a:p>
            <a:pPr marL="0" indent="0">
              <a:buNone/>
            </a:pPr>
            <a:r>
              <a:rPr lang="en-US" dirty="0">
                <a:latin typeface="Courier New" panose="02070309020205020404" pitchFamily="49" charset="0"/>
                <a:cs typeface="Courier New" panose="02070309020205020404" pitchFamily="49" charset="0"/>
              </a:rPr>
              <a:t>\r\n</a:t>
            </a:r>
          </a:p>
          <a:p>
            <a:pPr marL="0" indent="0">
              <a:buNone/>
            </a:pPr>
            <a:r>
              <a:rPr lang="en-US" dirty="0">
                <a:latin typeface="Courier New" panose="02070309020205020404" pitchFamily="49" charset="0"/>
                <a:cs typeface="Courier New" panose="02070309020205020404" pitchFamily="49" charset="0"/>
              </a:rPr>
              <a:t>&lt;!doctype html&gt;&lt;html ...</a:t>
            </a:r>
          </a:p>
        </p:txBody>
      </p:sp>
      <p:sp>
        <p:nvSpPr>
          <p:cNvPr id="9" name="Rectangle 8">
            <a:extLst>
              <a:ext uri="{FF2B5EF4-FFF2-40B4-BE49-F238E27FC236}">
                <a16:creationId xmlns:a16="http://schemas.microsoft.com/office/drawing/2014/main" id="{652E747B-6627-69FF-7AF7-81253B1491C7}"/>
              </a:ext>
            </a:extLst>
          </p:cNvPr>
          <p:cNvSpPr/>
          <p:nvPr/>
        </p:nvSpPr>
        <p:spPr>
          <a:xfrm>
            <a:off x="148753" y="2450034"/>
            <a:ext cx="4849036" cy="556692"/>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CA6B932-8A9E-CA83-7114-4BB2D6357BAD}"/>
              </a:ext>
            </a:extLst>
          </p:cNvPr>
          <p:cNvSpPr/>
          <p:nvPr/>
        </p:nvSpPr>
        <p:spPr>
          <a:xfrm>
            <a:off x="5458940" y="2450034"/>
            <a:ext cx="6267716" cy="556692"/>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F2487E9-A0DA-EC32-0789-D984C87B6D80}"/>
              </a:ext>
            </a:extLst>
          </p:cNvPr>
          <p:cNvSpPr txBox="1"/>
          <p:nvPr/>
        </p:nvSpPr>
        <p:spPr>
          <a:xfrm>
            <a:off x="4674956" y="821332"/>
            <a:ext cx="3734382" cy="1384995"/>
          </a:xfrm>
          <a:prstGeom prst="rect">
            <a:avLst/>
          </a:prstGeom>
          <a:noFill/>
        </p:spPr>
        <p:txBody>
          <a:bodyPr wrap="square" rtlCol="0">
            <a:spAutoFit/>
          </a:bodyPr>
          <a:lstStyle/>
          <a:p>
            <a:r>
              <a:rPr lang="en-US" sz="2800" dirty="0">
                <a:solidFill>
                  <a:schemeClr val="accent2"/>
                </a:solidFill>
              </a:rPr>
              <a:t>Line</a:t>
            </a:r>
          </a:p>
          <a:p>
            <a:r>
              <a:rPr lang="en-US" sz="2800" dirty="0">
                <a:solidFill>
                  <a:schemeClr val="accent4"/>
                </a:solidFill>
              </a:rPr>
              <a:t>Headers</a:t>
            </a:r>
          </a:p>
          <a:p>
            <a:r>
              <a:rPr lang="en-US" sz="2800" dirty="0">
                <a:solidFill>
                  <a:schemeClr val="accent6"/>
                </a:solidFill>
              </a:rPr>
              <a:t>Body</a:t>
            </a:r>
          </a:p>
        </p:txBody>
      </p:sp>
      <p:sp>
        <p:nvSpPr>
          <p:cNvPr id="12" name="Rectangle 11">
            <a:extLst>
              <a:ext uri="{FF2B5EF4-FFF2-40B4-BE49-F238E27FC236}">
                <a16:creationId xmlns:a16="http://schemas.microsoft.com/office/drawing/2014/main" id="{D4E3EA7B-9D77-B0F1-067B-31AF0993092D}"/>
              </a:ext>
            </a:extLst>
          </p:cNvPr>
          <p:cNvSpPr/>
          <p:nvPr/>
        </p:nvSpPr>
        <p:spPr>
          <a:xfrm>
            <a:off x="148753" y="3041115"/>
            <a:ext cx="4849036" cy="1021333"/>
          </a:xfrm>
          <a:prstGeom prst="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DC5F60D-007E-66AF-6FF1-0FA7F7F81DD0}"/>
              </a:ext>
            </a:extLst>
          </p:cNvPr>
          <p:cNvSpPr/>
          <p:nvPr/>
        </p:nvSpPr>
        <p:spPr>
          <a:xfrm>
            <a:off x="5458940" y="3045255"/>
            <a:ext cx="6267716" cy="1994415"/>
          </a:xfrm>
          <a:prstGeom prst="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E7A659-8B15-8C2D-9F6D-48A69DA0398F}"/>
              </a:ext>
            </a:extLst>
          </p:cNvPr>
          <p:cNvSpPr/>
          <p:nvPr/>
        </p:nvSpPr>
        <p:spPr>
          <a:xfrm>
            <a:off x="148753" y="4529003"/>
            <a:ext cx="4849036" cy="510667"/>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3AB2022-825F-1557-CD1D-486187F74DDF}"/>
              </a:ext>
            </a:extLst>
          </p:cNvPr>
          <p:cNvSpPr/>
          <p:nvPr/>
        </p:nvSpPr>
        <p:spPr>
          <a:xfrm>
            <a:off x="5458940" y="5526001"/>
            <a:ext cx="6267716" cy="510667"/>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08042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p:bldP spid="12" grpId="0" animBg="1"/>
      <p:bldP spid="13" grpId="0" animBg="1"/>
      <p:bldP spid="14" grpId="0" animBg="1"/>
      <p:bldP spid="1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CACA3-FE80-8946-CC46-CB715FEB115C}"/>
              </a:ext>
            </a:extLst>
          </p:cNvPr>
          <p:cNvSpPr>
            <a:spLocks noGrp="1"/>
          </p:cNvSpPr>
          <p:nvPr>
            <p:ph type="title"/>
          </p:nvPr>
        </p:nvSpPr>
        <p:spPr/>
        <p:txBody>
          <a:bodyPr/>
          <a:lstStyle/>
          <a:p>
            <a:r>
              <a:rPr lang="en-US" dirty="0"/>
              <a:t>Methods and Codes</a:t>
            </a:r>
          </a:p>
        </p:txBody>
      </p:sp>
      <p:sp>
        <p:nvSpPr>
          <p:cNvPr id="3" name="Text Placeholder 2">
            <a:extLst>
              <a:ext uri="{FF2B5EF4-FFF2-40B4-BE49-F238E27FC236}">
                <a16:creationId xmlns:a16="http://schemas.microsoft.com/office/drawing/2014/main" id="{0141AB30-5A23-E470-BA58-A56B1EDB6387}"/>
              </a:ext>
            </a:extLst>
          </p:cNvPr>
          <p:cNvSpPr>
            <a:spLocks noGrp="1"/>
          </p:cNvSpPr>
          <p:nvPr>
            <p:ph type="body" idx="1"/>
          </p:nvPr>
        </p:nvSpPr>
        <p:spPr/>
        <p:txBody>
          <a:bodyPr/>
          <a:lstStyle/>
          <a:p>
            <a:r>
              <a:rPr lang="en-US" dirty="0"/>
              <a:t>Request Methods</a:t>
            </a:r>
          </a:p>
        </p:txBody>
      </p:sp>
      <p:sp>
        <p:nvSpPr>
          <p:cNvPr id="4" name="Content Placeholder 3">
            <a:extLst>
              <a:ext uri="{FF2B5EF4-FFF2-40B4-BE49-F238E27FC236}">
                <a16:creationId xmlns:a16="http://schemas.microsoft.com/office/drawing/2014/main" id="{AD089FC8-7D5F-E8E5-C510-EF80D54B5BA4}"/>
              </a:ext>
            </a:extLst>
          </p:cNvPr>
          <p:cNvSpPr>
            <a:spLocks noGrp="1"/>
          </p:cNvSpPr>
          <p:nvPr>
            <p:ph sz="half" idx="2"/>
          </p:nvPr>
        </p:nvSpPr>
        <p:spPr/>
        <p:txBody>
          <a:bodyPr>
            <a:normAutofit/>
          </a:bodyPr>
          <a:lstStyle/>
          <a:p>
            <a:pPr marL="0" indent="0">
              <a:lnSpc>
                <a:spcPct val="100000"/>
              </a:lnSpc>
              <a:spcBef>
                <a:spcPts val="0"/>
              </a:spcBef>
              <a:buNone/>
            </a:pPr>
            <a:r>
              <a:rPr lang="en-US" sz="1200" dirty="0">
                <a:latin typeface="Courier New" panose="02070309020205020404" pitchFamily="49" charset="0"/>
              </a:rPr>
              <a:t> Method         = "GET”;</a:t>
            </a:r>
          </a:p>
          <a:p>
            <a:pPr marL="0" indent="0">
              <a:lnSpc>
                <a:spcPct val="100000"/>
              </a:lnSpc>
              <a:spcBef>
                <a:spcPts val="0"/>
              </a:spcBef>
              <a:buNone/>
            </a:pPr>
            <a:r>
              <a:rPr lang="en-US" sz="1200" dirty="0">
                <a:latin typeface="Courier New" panose="02070309020205020404" pitchFamily="49" charset="0"/>
              </a:rPr>
              <a:t>                | "HEAD";</a:t>
            </a:r>
          </a:p>
          <a:p>
            <a:pPr marL="0" indent="0">
              <a:lnSpc>
                <a:spcPct val="100000"/>
              </a:lnSpc>
              <a:spcBef>
                <a:spcPts val="0"/>
              </a:spcBef>
              <a:buNone/>
            </a:pPr>
            <a:r>
              <a:rPr lang="en-US" sz="1200" dirty="0">
                <a:latin typeface="Courier New" panose="02070309020205020404" pitchFamily="49" charset="0"/>
              </a:rPr>
              <a:t>                | "POST"; </a:t>
            </a:r>
          </a:p>
          <a:p>
            <a:pPr marL="0" indent="0">
              <a:lnSpc>
                <a:spcPct val="100000"/>
              </a:lnSpc>
              <a:spcBef>
                <a:spcPts val="0"/>
              </a:spcBef>
              <a:buNone/>
            </a:pPr>
            <a:r>
              <a:rPr lang="en-US" sz="1200" dirty="0">
                <a:latin typeface="Courier New" panose="02070309020205020404" pitchFamily="49" charset="0"/>
              </a:rPr>
              <a:t>                | extension-method</a:t>
            </a:r>
            <a:endParaRPr lang="en-US" sz="1200" dirty="0"/>
          </a:p>
        </p:txBody>
      </p:sp>
      <p:sp>
        <p:nvSpPr>
          <p:cNvPr id="5" name="Text Placeholder 4">
            <a:extLst>
              <a:ext uri="{FF2B5EF4-FFF2-40B4-BE49-F238E27FC236}">
                <a16:creationId xmlns:a16="http://schemas.microsoft.com/office/drawing/2014/main" id="{D46D43BE-7077-09FB-350A-CAED42AE5D9E}"/>
              </a:ext>
            </a:extLst>
          </p:cNvPr>
          <p:cNvSpPr>
            <a:spLocks noGrp="1"/>
          </p:cNvSpPr>
          <p:nvPr>
            <p:ph type="body" sz="quarter" idx="3"/>
          </p:nvPr>
        </p:nvSpPr>
        <p:spPr/>
        <p:txBody>
          <a:bodyPr/>
          <a:lstStyle/>
          <a:p>
            <a:r>
              <a:rPr lang="en-US" dirty="0"/>
              <a:t>Response Status Code</a:t>
            </a:r>
          </a:p>
        </p:txBody>
      </p:sp>
      <p:sp>
        <p:nvSpPr>
          <p:cNvPr id="6" name="Content Placeholder 5">
            <a:extLst>
              <a:ext uri="{FF2B5EF4-FFF2-40B4-BE49-F238E27FC236}">
                <a16:creationId xmlns:a16="http://schemas.microsoft.com/office/drawing/2014/main" id="{3146DB02-E8A2-2CCF-D3F0-29E5A2395ACE}"/>
              </a:ext>
            </a:extLst>
          </p:cNvPr>
          <p:cNvSpPr>
            <a:spLocks noGrp="1"/>
          </p:cNvSpPr>
          <p:nvPr>
            <p:ph sz="quarter" idx="4"/>
          </p:nvPr>
        </p:nvSpPr>
        <p:spPr>
          <a:xfrm>
            <a:off x="6172200" y="2505075"/>
            <a:ext cx="5875544" cy="3684588"/>
          </a:xfrm>
        </p:spPr>
        <p:txBody>
          <a:bodyPr>
            <a:normAutofit/>
          </a:bodyPr>
          <a:lstStyle/>
          <a:p>
            <a:pPr marL="0" indent="0">
              <a:lnSpc>
                <a:spcPct val="120000"/>
              </a:lnSpc>
              <a:spcBef>
                <a:spcPts val="0"/>
              </a:spcBef>
              <a:buNone/>
            </a:pPr>
            <a:r>
              <a:rPr lang="en-US" sz="1200" dirty="0">
                <a:latin typeface="Courier New" panose="02070309020205020404" pitchFamily="49" charset="0"/>
              </a:rPr>
              <a:t>       Status-Code    = "200"   ; OK</a:t>
            </a:r>
          </a:p>
          <a:p>
            <a:pPr marL="0" indent="0">
              <a:lnSpc>
                <a:spcPct val="120000"/>
              </a:lnSpc>
              <a:spcBef>
                <a:spcPts val="0"/>
              </a:spcBef>
              <a:buNone/>
            </a:pPr>
            <a:r>
              <a:rPr lang="en-US" sz="1200" dirty="0">
                <a:latin typeface="Courier New" panose="02070309020205020404" pitchFamily="49" charset="0"/>
              </a:rPr>
              <a:t>                      | "201"   ; Created</a:t>
            </a:r>
          </a:p>
          <a:p>
            <a:pPr marL="0" indent="0">
              <a:lnSpc>
                <a:spcPct val="120000"/>
              </a:lnSpc>
              <a:spcBef>
                <a:spcPts val="0"/>
              </a:spcBef>
              <a:buNone/>
            </a:pPr>
            <a:r>
              <a:rPr lang="en-US" sz="1200" dirty="0">
                <a:latin typeface="Courier New" panose="02070309020205020404" pitchFamily="49" charset="0"/>
              </a:rPr>
              <a:t>                      | "202"   ; Accepted</a:t>
            </a:r>
          </a:p>
          <a:p>
            <a:pPr marL="0" indent="0">
              <a:lnSpc>
                <a:spcPct val="120000"/>
              </a:lnSpc>
              <a:spcBef>
                <a:spcPts val="0"/>
              </a:spcBef>
              <a:buNone/>
            </a:pPr>
            <a:r>
              <a:rPr lang="en-US" sz="1200" dirty="0">
                <a:latin typeface="Courier New" panose="02070309020205020404" pitchFamily="49" charset="0"/>
              </a:rPr>
              <a:t>                      | "204"   ; No Content</a:t>
            </a:r>
          </a:p>
          <a:p>
            <a:pPr marL="0" indent="0">
              <a:lnSpc>
                <a:spcPct val="120000"/>
              </a:lnSpc>
              <a:spcBef>
                <a:spcPts val="0"/>
              </a:spcBef>
              <a:buNone/>
            </a:pPr>
            <a:r>
              <a:rPr lang="en-US" sz="1200" dirty="0">
                <a:latin typeface="Courier New" panose="02070309020205020404" pitchFamily="49" charset="0"/>
              </a:rPr>
              <a:t>                      | "301"   ; Moved Permanently</a:t>
            </a:r>
          </a:p>
          <a:p>
            <a:pPr marL="0" indent="0">
              <a:lnSpc>
                <a:spcPct val="120000"/>
              </a:lnSpc>
              <a:spcBef>
                <a:spcPts val="0"/>
              </a:spcBef>
              <a:buNone/>
            </a:pPr>
            <a:r>
              <a:rPr lang="en-US" sz="1200" dirty="0">
                <a:latin typeface="Courier New" panose="02070309020205020404" pitchFamily="49" charset="0"/>
              </a:rPr>
              <a:t>                      | "302"   ; Moved Temporarily</a:t>
            </a:r>
          </a:p>
          <a:p>
            <a:pPr marL="0" indent="0">
              <a:lnSpc>
                <a:spcPct val="120000"/>
              </a:lnSpc>
              <a:spcBef>
                <a:spcPts val="0"/>
              </a:spcBef>
              <a:buNone/>
            </a:pPr>
            <a:r>
              <a:rPr lang="en-US" sz="1200" dirty="0">
                <a:latin typeface="Courier New" panose="02070309020205020404" pitchFamily="49" charset="0"/>
              </a:rPr>
              <a:t>                      | "304"   ; Not Modified</a:t>
            </a:r>
          </a:p>
          <a:p>
            <a:pPr marL="0" indent="0">
              <a:lnSpc>
                <a:spcPct val="120000"/>
              </a:lnSpc>
              <a:spcBef>
                <a:spcPts val="0"/>
              </a:spcBef>
              <a:buNone/>
            </a:pPr>
            <a:r>
              <a:rPr lang="en-US" sz="1200" dirty="0">
                <a:latin typeface="Courier New" panose="02070309020205020404" pitchFamily="49" charset="0"/>
              </a:rPr>
              <a:t>                      | "400"   ; Bad Request</a:t>
            </a:r>
          </a:p>
          <a:p>
            <a:pPr marL="0" indent="0">
              <a:lnSpc>
                <a:spcPct val="120000"/>
              </a:lnSpc>
              <a:spcBef>
                <a:spcPts val="0"/>
              </a:spcBef>
              <a:buNone/>
            </a:pPr>
            <a:r>
              <a:rPr lang="en-US" sz="1200" dirty="0">
                <a:latin typeface="Courier New" panose="02070309020205020404" pitchFamily="49" charset="0"/>
              </a:rPr>
              <a:t>                      | "401"   ; Unauthorized</a:t>
            </a:r>
          </a:p>
          <a:p>
            <a:pPr marL="0" indent="0">
              <a:lnSpc>
                <a:spcPct val="120000"/>
              </a:lnSpc>
              <a:spcBef>
                <a:spcPts val="0"/>
              </a:spcBef>
              <a:buNone/>
            </a:pPr>
            <a:r>
              <a:rPr lang="en-US" sz="1200" dirty="0">
                <a:latin typeface="Courier New" panose="02070309020205020404" pitchFamily="49" charset="0"/>
              </a:rPr>
              <a:t>                      | "403"   ; Forbidden</a:t>
            </a:r>
          </a:p>
          <a:p>
            <a:pPr marL="0" indent="0">
              <a:lnSpc>
                <a:spcPct val="120000"/>
              </a:lnSpc>
              <a:spcBef>
                <a:spcPts val="0"/>
              </a:spcBef>
              <a:buNone/>
            </a:pPr>
            <a:r>
              <a:rPr lang="en-US" sz="1200" dirty="0">
                <a:latin typeface="Courier New" panose="02070309020205020404" pitchFamily="49" charset="0"/>
              </a:rPr>
              <a:t>                      | "404"   ; Not Found</a:t>
            </a:r>
          </a:p>
          <a:p>
            <a:pPr marL="0" indent="0">
              <a:lnSpc>
                <a:spcPct val="120000"/>
              </a:lnSpc>
              <a:spcBef>
                <a:spcPts val="0"/>
              </a:spcBef>
              <a:buNone/>
            </a:pPr>
            <a:r>
              <a:rPr lang="en-US" sz="1200" dirty="0">
                <a:latin typeface="Courier New" panose="02070309020205020404" pitchFamily="49" charset="0"/>
              </a:rPr>
              <a:t>                      | "500"   ; Internal Server Error</a:t>
            </a:r>
          </a:p>
          <a:p>
            <a:pPr marL="0" indent="0">
              <a:lnSpc>
                <a:spcPct val="120000"/>
              </a:lnSpc>
              <a:spcBef>
                <a:spcPts val="0"/>
              </a:spcBef>
              <a:buNone/>
            </a:pPr>
            <a:r>
              <a:rPr lang="en-US" sz="1200" dirty="0">
                <a:latin typeface="Courier New" panose="02070309020205020404" pitchFamily="49" charset="0"/>
              </a:rPr>
              <a:t>                      | "501"   ; Not Implemented</a:t>
            </a:r>
          </a:p>
          <a:p>
            <a:pPr marL="0" indent="0">
              <a:lnSpc>
                <a:spcPct val="120000"/>
              </a:lnSpc>
              <a:spcBef>
                <a:spcPts val="0"/>
              </a:spcBef>
              <a:buNone/>
            </a:pPr>
            <a:r>
              <a:rPr lang="en-US" sz="1200" dirty="0">
                <a:latin typeface="Courier New" panose="02070309020205020404" pitchFamily="49" charset="0"/>
              </a:rPr>
              <a:t>                      | "502"   ; Bad Gateway</a:t>
            </a:r>
          </a:p>
          <a:p>
            <a:pPr marL="0" indent="0">
              <a:lnSpc>
                <a:spcPct val="120000"/>
              </a:lnSpc>
              <a:spcBef>
                <a:spcPts val="0"/>
              </a:spcBef>
              <a:buNone/>
            </a:pPr>
            <a:r>
              <a:rPr lang="en-US" sz="1200" dirty="0">
                <a:latin typeface="Courier New" panose="02070309020205020404" pitchFamily="49" charset="0"/>
              </a:rPr>
              <a:t>                      | "503"   ; Service Unavailable</a:t>
            </a:r>
          </a:p>
          <a:p>
            <a:pPr marL="0" indent="0">
              <a:lnSpc>
                <a:spcPct val="120000"/>
              </a:lnSpc>
              <a:spcBef>
                <a:spcPts val="0"/>
              </a:spcBef>
              <a:buNone/>
            </a:pPr>
            <a:r>
              <a:rPr lang="en-US" sz="1200" dirty="0">
                <a:latin typeface="Courier New" panose="02070309020205020404" pitchFamily="49" charset="0"/>
              </a:rPr>
              <a:t>                      | extension-code</a:t>
            </a:r>
          </a:p>
        </p:txBody>
      </p:sp>
      <p:sp>
        <p:nvSpPr>
          <p:cNvPr id="7" name="TextBox 6">
            <a:extLst>
              <a:ext uri="{FF2B5EF4-FFF2-40B4-BE49-F238E27FC236}">
                <a16:creationId xmlns:a16="http://schemas.microsoft.com/office/drawing/2014/main" id="{ABD3953C-A371-F51E-9C0D-01BDA69CF864}"/>
              </a:ext>
            </a:extLst>
          </p:cNvPr>
          <p:cNvSpPr txBox="1"/>
          <p:nvPr/>
        </p:nvSpPr>
        <p:spPr>
          <a:xfrm>
            <a:off x="753855" y="3894925"/>
            <a:ext cx="5243719" cy="646331"/>
          </a:xfrm>
          <a:prstGeom prst="rect">
            <a:avLst/>
          </a:prstGeom>
          <a:noFill/>
        </p:spPr>
        <p:txBody>
          <a:bodyPr wrap="square" rtlCol="0">
            <a:spAutoFit/>
          </a:bodyPr>
          <a:lstStyle/>
          <a:p>
            <a:r>
              <a:rPr lang="en-US" dirty="0"/>
              <a:t>https://developer.mozilla.org/en-US/docs/Web/HTTP/Reference/Methods</a:t>
            </a:r>
          </a:p>
        </p:txBody>
      </p:sp>
      <p:sp>
        <p:nvSpPr>
          <p:cNvPr id="8" name="TextBox 7">
            <a:extLst>
              <a:ext uri="{FF2B5EF4-FFF2-40B4-BE49-F238E27FC236}">
                <a16:creationId xmlns:a16="http://schemas.microsoft.com/office/drawing/2014/main" id="{FE9412AF-9C6E-C04B-8587-D9201265E2A3}"/>
              </a:ext>
            </a:extLst>
          </p:cNvPr>
          <p:cNvSpPr txBox="1"/>
          <p:nvPr/>
        </p:nvSpPr>
        <p:spPr>
          <a:xfrm>
            <a:off x="6108493" y="6169709"/>
            <a:ext cx="5243719" cy="646331"/>
          </a:xfrm>
          <a:prstGeom prst="rect">
            <a:avLst/>
          </a:prstGeom>
          <a:noFill/>
        </p:spPr>
        <p:txBody>
          <a:bodyPr wrap="square" rtlCol="0">
            <a:spAutoFit/>
          </a:bodyPr>
          <a:lstStyle/>
          <a:p>
            <a:r>
              <a:rPr lang="en-US" dirty="0"/>
              <a:t>https://developer.mozilla.org/en-US/docs/Web/HTTP/Reference/Status</a:t>
            </a:r>
          </a:p>
        </p:txBody>
      </p:sp>
    </p:spTree>
    <p:extLst>
      <p:ext uri="{BB962C8B-B14F-4D97-AF65-F5344CB8AC3E}">
        <p14:creationId xmlns:p14="http://schemas.microsoft.com/office/powerpoint/2010/main" val="154307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46C3C-2508-617F-DFFD-69D8C1A562D3}"/>
              </a:ext>
            </a:extLst>
          </p:cNvPr>
          <p:cNvSpPr>
            <a:spLocks noGrp="1"/>
          </p:cNvSpPr>
          <p:nvPr>
            <p:ph type="title"/>
          </p:nvPr>
        </p:nvSpPr>
        <p:spPr/>
        <p:txBody>
          <a:bodyPr/>
          <a:lstStyle/>
          <a:p>
            <a:r>
              <a:rPr lang="en-US" dirty="0"/>
              <a:t>HTTP Tools</a:t>
            </a:r>
          </a:p>
        </p:txBody>
      </p:sp>
      <p:sp>
        <p:nvSpPr>
          <p:cNvPr id="3" name="Content Placeholder 2">
            <a:extLst>
              <a:ext uri="{FF2B5EF4-FFF2-40B4-BE49-F238E27FC236}">
                <a16:creationId xmlns:a16="http://schemas.microsoft.com/office/drawing/2014/main" id="{ABEE76AF-6801-3ED8-C63E-EF4D8270B203}"/>
              </a:ext>
            </a:extLst>
          </p:cNvPr>
          <p:cNvSpPr>
            <a:spLocks noGrp="1"/>
          </p:cNvSpPr>
          <p:nvPr>
            <p:ph idx="1"/>
          </p:nvPr>
        </p:nvSpPr>
        <p:spPr/>
        <p:txBody>
          <a:bodyPr>
            <a:normAutofit lnSpcReduction="10000"/>
          </a:bodyPr>
          <a:lstStyle/>
          <a:p>
            <a:r>
              <a:rPr lang="en-US" dirty="0"/>
              <a:t>telnet</a:t>
            </a:r>
          </a:p>
          <a:p>
            <a:r>
              <a:rPr lang="en-US" dirty="0" err="1"/>
              <a:t>wget</a:t>
            </a:r>
            <a:endParaRPr lang="en-US" dirty="0"/>
          </a:p>
          <a:p>
            <a:r>
              <a:rPr lang="en-US" dirty="0"/>
              <a:t>curl</a:t>
            </a:r>
          </a:p>
          <a:p>
            <a:r>
              <a:rPr lang="en-US" dirty="0"/>
              <a:t>postman</a:t>
            </a:r>
          </a:p>
          <a:p>
            <a:r>
              <a:rPr lang="en-US" dirty="0"/>
              <a:t>requests</a:t>
            </a:r>
          </a:p>
          <a:p>
            <a:r>
              <a:rPr lang="en-US" dirty="0"/>
              <a:t>Wireshark</a:t>
            </a:r>
          </a:p>
          <a:p>
            <a:r>
              <a:rPr lang="en-US" dirty="0"/>
              <a:t>Browser (dev tools too!)</a:t>
            </a:r>
          </a:p>
          <a:p>
            <a:endParaRPr lang="en-US" dirty="0"/>
          </a:p>
          <a:p>
            <a:r>
              <a:rPr lang="en-US" dirty="0"/>
              <a:t>Demo</a:t>
            </a:r>
          </a:p>
        </p:txBody>
      </p:sp>
    </p:spTree>
    <p:extLst>
      <p:ext uri="{BB962C8B-B14F-4D97-AF65-F5344CB8AC3E}">
        <p14:creationId xmlns:p14="http://schemas.microsoft.com/office/powerpoint/2010/main" val="2012762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C739B-ABD3-1B66-CBCA-E60B87CBD537}"/>
              </a:ext>
            </a:extLst>
          </p:cNvPr>
          <p:cNvSpPr>
            <a:spLocks noGrp="1"/>
          </p:cNvSpPr>
          <p:nvPr>
            <p:ph type="title"/>
          </p:nvPr>
        </p:nvSpPr>
        <p:spPr/>
        <p:txBody>
          <a:bodyPr/>
          <a:lstStyle/>
          <a:p>
            <a:r>
              <a:rPr lang="en-US" dirty="0"/>
              <a:t>In python</a:t>
            </a:r>
          </a:p>
        </p:txBody>
      </p:sp>
      <p:sp>
        <p:nvSpPr>
          <p:cNvPr id="3" name="Content Placeholder 2">
            <a:extLst>
              <a:ext uri="{FF2B5EF4-FFF2-40B4-BE49-F238E27FC236}">
                <a16:creationId xmlns:a16="http://schemas.microsoft.com/office/drawing/2014/main" id="{7FEEDE65-D283-D0B6-5E49-938319C07FBD}"/>
              </a:ext>
            </a:extLst>
          </p:cNvPr>
          <p:cNvSpPr>
            <a:spLocks noGrp="1"/>
          </p:cNvSpPr>
          <p:nvPr>
            <p:ph idx="1"/>
          </p:nvPr>
        </p:nvSpPr>
        <p:spPr/>
        <p:txBody>
          <a:bodyPr/>
          <a:lstStyle/>
          <a:p>
            <a:r>
              <a:rPr lang="en-US" dirty="0"/>
              <a:t>Uses the requests library</a:t>
            </a:r>
          </a:p>
          <a:p>
            <a:endParaRPr lang="en-US" dirty="0"/>
          </a:p>
          <a:p>
            <a:r>
              <a:rPr lang="en-US"/>
              <a:t>Demo</a:t>
            </a:r>
            <a:endParaRPr lang="en-US" dirty="0"/>
          </a:p>
        </p:txBody>
      </p:sp>
    </p:spTree>
    <p:extLst>
      <p:ext uri="{BB962C8B-B14F-4D97-AF65-F5344CB8AC3E}">
        <p14:creationId xmlns:p14="http://schemas.microsoft.com/office/powerpoint/2010/main" val="1157162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94CC769-791B-48CC-8DD8-3E436EE0B1A3}"/>
              </a:ext>
            </a:extLst>
          </p:cNvPr>
          <p:cNvSpPr>
            <a:spLocks noGrp="1"/>
          </p:cNvSpPr>
          <p:nvPr>
            <p:ph type="title"/>
          </p:nvPr>
        </p:nvSpPr>
        <p:spPr/>
        <p:txBody>
          <a:bodyPr/>
          <a:lstStyle/>
          <a:p>
            <a:r>
              <a:rPr lang="en-US" dirty="0"/>
              <a:t>Questions</a:t>
            </a:r>
          </a:p>
        </p:txBody>
      </p:sp>
      <p:sp>
        <p:nvSpPr>
          <p:cNvPr id="6" name="Text Placeholder 5">
            <a:extLst>
              <a:ext uri="{FF2B5EF4-FFF2-40B4-BE49-F238E27FC236}">
                <a16:creationId xmlns:a16="http://schemas.microsoft.com/office/drawing/2014/main" id="{ABAE1514-E6D9-E467-C267-0175F48ABC1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2766790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215</TotalTime>
  <Words>549</Words>
  <Application>Microsoft Office PowerPoint</Application>
  <PresentationFormat>Widescreen</PresentationFormat>
  <Paragraphs>89</Paragraphs>
  <Slides>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Courier New</vt:lpstr>
      <vt:lpstr>Office Theme</vt:lpstr>
      <vt:lpstr>HTTP and APIs</vt:lpstr>
      <vt:lpstr>HyperText Transfer Protocol</vt:lpstr>
      <vt:lpstr>The HTTP Protocol: Rules</vt:lpstr>
      <vt:lpstr>Examples</vt:lpstr>
      <vt:lpstr>Methods and Codes</vt:lpstr>
      <vt:lpstr>HTTP Tools</vt:lpstr>
      <vt:lpstr>In python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Shafer</dc:creator>
  <cp:lastModifiedBy>Ethan Shafer</cp:lastModifiedBy>
  <cp:revision>147</cp:revision>
  <dcterms:created xsi:type="dcterms:W3CDTF">2025-09-17T14:29:17Z</dcterms:created>
  <dcterms:modified xsi:type="dcterms:W3CDTF">2025-11-05T21:47:13Z</dcterms:modified>
</cp:coreProperties>
</file>