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22"/>
  </p:notesMasterIdLst>
  <p:sldIdLst>
    <p:sldId id="256" r:id="rId2"/>
    <p:sldId id="294" r:id="rId3"/>
    <p:sldId id="295" r:id="rId4"/>
    <p:sldId id="296" r:id="rId5"/>
    <p:sldId id="312" r:id="rId6"/>
    <p:sldId id="297" r:id="rId7"/>
    <p:sldId id="298" r:id="rId8"/>
    <p:sldId id="300" r:id="rId9"/>
    <p:sldId id="299" r:id="rId10"/>
    <p:sldId id="313" r:id="rId11"/>
    <p:sldId id="303" r:id="rId12"/>
    <p:sldId id="301" r:id="rId13"/>
    <p:sldId id="302" r:id="rId14"/>
    <p:sldId id="305" r:id="rId15"/>
    <p:sldId id="307" r:id="rId16"/>
    <p:sldId id="308" r:id="rId17"/>
    <p:sldId id="311" r:id="rId18"/>
    <p:sldId id="304" r:id="rId19"/>
    <p:sldId id="309" r:id="rId20"/>
    <p:sldId id="310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36" autoAdjust="0"/>
    <p:restoredTop sz="86957" autoAdjust="0"/>
  </p:normalViewPr>
  <p:slideViewPr>
    <p:cSldViewPr snapToGrid="0">
      <p:cViewPr varScale="1">
        <p:scale>
          <a:sx n="93" d="100"/>
          <a:sy n="93" d="100"/>
        </p:scale>
        <p:origin x="76" y="11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https://en.wikipedia.org/wiki/Computer_network#/media/File:Internet_map_1024.jpg</a:t>
            </a:r>
          </a:p>
        </p:txBody>
      </p:sp>
    </p:spTree>
    <p:extLst>
      <p:ext uri="{BB962C8B-B14F-4D97-AF65-F5344CB8AC3E}">
        <p14:creationId xmlns:p14="http://schemas.microsoft.com/office/powerpoint/2010/main" val="695984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https://en.wikipedia.org/wiki/OSI_model</a:t>
            </a:r>
          </a:p>
        </p:txBody>
      </p:sp>
    </p:spTree>
    <p:extLst>
      <p:ext uri="{BB962C8B-B14F-4D97-AF65-F5344CB8AC3E}">
        <p14:creationId xmlns:p14="http://schemas.microsoft.com/office/powerpoint/2010/main" val="2614627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Given a host address, determine network address</a:t>
            </a:r>
          </a:p>
          <a:p>
            <a:pPr marL="457200" indent="-298450">
              <a:buFontTx/>
              <a:buChar char="-"/>
            </a:pPr>
            <a:r>
              <a:rPr lang="en-US" dirty="0"/>
              <a:t>Convert to binary</a:t>
            </a:r>
          </a:p>
          <a:p>
            <a:pPr marL="457200" indent="-298450">
              <a:buFontTx/>
              <a:buChar char="-"/>
            </a:pPr>
            <a:r>
              <a:rPr lang="en-US" dirty="0"/>
              <a:t>Apply network mask</a:t>
            </a:r>
          </a:p>
          <a:p>
            <a:pPr marL="457200" indent="-298450">
              <a:buFontTx/>
              <a:buChar char="-"/>
            </a:pPr>
            <a:r>
              <a:rPr lang="en-US" dirty="0"/>
              <a:t>Convert to </a:t>
            </a:r>
            <a:r>
              <a:rPr lang="en-US"/>
              <a:t>dotted decimal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31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Subnetting allows us to split one larger network into multiple, smaller networks.</a:t>
            </a:r>
          </a:p>
        </p:txBody>
      </p:sp>
    </p:spTree>
    <p:extLst>
      <p:ext uri="{BB962C8B-B14F-4D97-AF65-F5344CB8AC3E}">
        <p14:creationId xmlns:p14="http://schemas.microsoft.com/office/powerpoint/2010/main" val="36966744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8164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4596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cloud lessons, you’ll see how crazy the port mappings can get.</a:t>
            </a:r>
          </a:p>
        </p:txBody>
      </p:sp>
    </p:spTree>
    <p:extLst>
      <p:ext uri="{BB962C8B-B14F-4D97-AF65-F5344CB8AC3E}">
        <p14:creationId xmlns:p14="http://schemas.microsoft.com/office/powerpoint/2010/main" val="1981713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5 May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401545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5 May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35668" y="78731"/>
            <a:ext cx="2434590" cy="919356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2838549"/>
            <a:ext cx="2674144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728960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5 May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5209280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200149"/>
            <a:ext cx="50963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4972050"/>
            <a:ext cx="617220" cy="17145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33828" y="4972050"/>
            <a:ext cx="299408" cy="17145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8966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915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5 May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18899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8124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44767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5 May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5936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5 May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277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11480" y="1200150"/>
            <a:ext cx="418338" cy="416624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1148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56032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256032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0916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85800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5 May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1330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5 May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0505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5 May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3590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5 May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965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5 May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6776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5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01107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3456168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308610"/>
            <a:ext cx="8321040" cy="233172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846070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709159" y="2846070"/>
            <a:ext cx="4023360" cy="1783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85605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0915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9159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70915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5 May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45479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78123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8123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278123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4767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4767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144767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5 May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21987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80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71604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604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2571604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78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88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6978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5800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800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85800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5 May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1240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539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6858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1825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995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0"/>
            <a:ext cx="4023995" cy="685800"/>
          </a:xfrm>
        </p:spPr>
        <p:txBody>
          <a:bodyPr anchor="t" anchorCtr="0"/>
          <a:lstStyle>
            <a:lvl1pPr>
              <a:lnSpc>
                <a:spcPct val="90000"/>
              </a:lnSpc>
              <a:defRPr sz="18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200150"/>
            <a:ext cx="5096351" cy="3429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27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5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2283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5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5224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5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585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5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2822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5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958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5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171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5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0596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164" y="3614561"/>
            <a:ext cx="4024312" cy="10286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900"/>
            </a:lvl1pPr>
            <a:lvl2pPr marL="0" indent="0">
              <a:spcBef>
                <a:spcPts val="0"/>
              </a:spcBef>
              <a:buFontTx/>
              <a:buNone/>
              <a:defRPr sz="900"/>
            </a:lvl2pPr>
            <a:lvl3pPr marL="0" indent="0">
              <a:spcBef>
                <a:spcPts val="0"/>
              </a:spcBef>
              <a:buFontTx/>
              <a:buNone/>
              <a:defRPr sz="900"/>
            </a:lvl3pPr>
            <a:lvl4pPr marL="0" indent="0">
              <a:spcBef>
                <a:spcPts val="0"/>
              </a:spcBef>
              <a:buFontTx/>
              <a:buNone/>
              <a:defRPr sz="900"/>
            </a:lvl4pPr>
            <a:lvl5pPr marL="0" indent="0">
              <a:spcBef>
                <a:spcPts val="0"/>
              </a:spcBef>
              <a:buFontTx/>
              <a:buNone/>
              <a:defRPr sz="900"/>
            </a:lvl5pPr>
            <a:lvl6pPr marL="0" indent="0">
              <a:spcBef>
                <a:spcPts val="0"/>
              </a:spcBef>
              <a:buFontTx/>
              <a:buNone/>
              <a:defRPr sz="900"/>
            </a:lvl6pPr>
            <a:lvl7pPr marL="0" indent="0">
              <a:spcBef>
                <a:spcPts val="0"/>
              </a:spcBef>
              <a:buFontTx/>
              <a:buNone/>
              <a:defRPr sz="900"/>
            </a:lvl7pPr>
            <a:lvl8pPr marL="0" indent="0">
              <a:spcBef>
                <a:spcPts val="0"/>
              </a:spcBef>
              <a:buFontTx/>
              <a:buNone/>
              <a:defRPr sz="900"/>
            </a:lvl8pPr>
            <a:lvl9pPr marL="0" indent="0">
              <a:spcBef>
                <a:spcPts val="0"/>
              </a:spcBef>
              <a:buFontTx/>
              <a:buNone/>
              <a:defRPr sz="9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5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879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120265" y="1645920"/>
            <a:ext cx="4903470" cy="18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8090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blank">
  <p:cSld name="DEFAUL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971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6274" t="67"/>
          <a:stretch>
            <a:fillRect/>
          </a:stretch>
        </p:blipFill>
        <p:spPr>
          <a:xfrm>
            <a:off x="7821386" y="308611"/>
            <a:ext cx="911133" cy="3582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0766" y="4972050"/>
            <a:ext cx="617934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525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5 May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525" b="1"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444515" y="318065"/>
            <a:ext cx="376871" cy="35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32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84" r:id="rId20"/>
    <p:sldLayoutId id="2147483685" r:id="rId21"/>
    <p:sldLayoutId id="2147483686" r:id="rId22"/>
    <p:sldLayoutId id="2147483687" r:id="rId23"/>
    <p:sldLayoutId id="2147483688" r:id="rId24"/>
    <p:sldLayoutId id="2147483689" r:id="rId25"/>
    <p:sldLayoutId id="2147483690" r:id="rId26"/>
    <p:sldLayoutId id="2147483691" r:id="rId27"/>
    <p:sldLayoutId id="2147483692" r:id="rId28"/>
    <p:sldLayoutId id="2147483693" r:id="rId29"/>
    <p:sldLayoutId id="2147483694" r:id="rId30"/>
    <p:sldLayoutId id="2147483695" r:id="rId3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750"/>
        </a:spcBef>
        <a:buFont typeface="Arial" panose="020B0604020202020204" pitchFamily="34" charset="0"/>
        <a:buChar char="▪"/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5 May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546B20E-1AD8-90B4-10F0-DC5B258D6B8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F3B3679-8BFC-43D1-8E99-ED71D734515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1DB6EE9-52A8-F21F-E042-469CF908B78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B55D3E4-2696-884D-92DC-16928B81DB22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75116E0-ADB2-8073-532F-8EB1B1AA371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56733666-36DB-E3A5-FEAC-037C9BFC18F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1C9FCE9-49DE-579F-3270-9C1575A367D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C9DF61A-FCAA-4DE0-FB4D-85FB808386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3764EB8E-32D0-FE09-1D1C-D5C173C4849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D0499FE-11F1-07D8-0E40-E0E0E89A40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Networking Basics For Applications</a:t>
            </a:r>
          </a:p>
        </p:txBody>
      </p:sp>
      <p:sp>
        <p:nvSpPr>
          <p:cNvPr id="17" name="Subtitle 16">
            <a:extLst>
              <a:ext uri="{FF2B5EF4-FFF2-40B4-BE49-F238E27FC236}">
                <a16:creationId xmlns:a16="http://schemas.microsoft.com/office/drawing/2014/main" id="{45136737-FA8A-B6BB-1F02-F5D91F715F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C3AB2E4-2222-D7ED-DC5C-7812E742D7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7F6E5-EDBC-529F-172F-52200533D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827C4-28D4-ECAD-61C5-B3FC4382C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Outline the OSI model</a:t>
            </a:r>
          </a:p>
          <a:p>
            <a:r>
              <a:rPr lang="en-US" dirty="0"/>
              <a:t>Addressing</a:t>
            </a:r>
          </a:p>
          <a:p>
            <a:pPr lvl="1"/>
            <a:r>
              <a:rPr lang="en-US" dirty="0"/>
              <a:t>Implement IPv4 addressing</a:t>
            </a:r>
          </a:p>
          <a:p>
            <a:pPr lvl="1"/>
            <a:r>
              <a:rPr lang="en-US" dirty="0"/>
              <a:t>Understand network structures</a:t>
            </a:r>
          </a:p>
          <a:p>
            <a:pPr lvl="1"/>
            <a:r>
              <a:rPr lang="en-US" dirty="0"/>
              <a:t>Discuss private networks and NAT translation</a:t>
            </a:r>
          </a:p>
          <a:p>
            <a:r>
              <a:rPr lang="en-US" dirty="0"/>
              <a:t>Multiplexing</a:t>
            </a:r>
          </a:p>
          <a:p>
            <a:pPr lvl="1"/>
            <a:r>
              <a:rPr lang="en-US" dirty="0"/>
              <a:t>Port numbers and application management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137160" lvl="1" indent="0">
              <a:buNone/>
            </a:pPr>
            <a:r>
              <a:rPr lang="en-US" dirty="0"/>
              <a:t>(Light MATH warning)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1884EE-75F2-B6C6-6EDA-69AD9FF7AE5E}"/>
              </a:ext>
            </a:extLst>
          </p:cNvPr>
          <p:cNvSpPr txBox="1"/>
          <p:nvPr/>
        </p:nvSpPr>
        <p:spPr>
          <a:xfrm>
            <a:off x="200556" y="3347581"/>
            <a:ext cx="22754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🚨		🚨</a:t>
            </a:r>
          </a:p>
        </p:txBody>
      </p:sp>
    </p:spTree>
    <p:extLst>
      <p:ext uri="{BB962C8B-B14F-4D97-AF65-F5344CB8AC3E}">
        <p14:creationId xmlns:p14="http://schemas.microsoft.com/office/powerpoint/2010/main" val="326349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2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860CF-5EA8-509F-58DB-C11468C42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97ACF-160C-95A7-9563-0C752868EB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Devices are </a:t>
            </a:r>
            <a:r>
              <a:rPr lang="en-US" i="1" dirty="0"/>
              <a:t>more useful</a:t>
            </a:r>
            <a:r>
              <a:rPr lang="en-US" dirty="0"/>
              <a:t> when they can talk to other devices (citation needed)</a:t>
            </a:r>
          </a:p>
          <a:p>
            <a:r>
              <a:rPr lang="en-US" dirty="0"/>
              <a:t>Very first connection </a:t>
            </a:r>
            <a:r>
              <a:rPr lang="en-US" dirty="0">
                <a:sym typeface="Wingdings" panose="05000000000000000000" pitchFamily="2" charset="2"/>
              </a:rPr>
              <a:t> 1940</a:t>
            </a:r>
          </a:p>
          <a:p>
            <a:r>
              <a:rPr lang="en-US" dirty="0">
                <a:sym typeface="Wingdings" panose="05000000000000000000" pitchFamily="2" charset="2"/>
              </a:rPr>
              <a:t>Fledgling networks through 1960s-70s</a:t>
            </a:r>
          </a:p>
          <a:p>
            <a:r>
              <a:rPr lang="en-US" dirty="0">
                <a:sym typeface="Wingdings" panose="05000000000000000000" pitchFamily="2" charset="2"/>
              </a:rPr>
              <a:t>ARPANET / ALOHA</a:t>
            </a:r>
          </a:p>
          <a:p>
            <a:r>
              <a:rPr lang="en-US" dirty="0">
                <a:sym typeface="Wingdings" panose="05000000000000000000" pitchFamily="2" charset="2"/>
              </a:rPr>
              <a:t>Internetworks in late 70s</a:t>
            </a:r>
          </a:p>
          <a:p>
            <a:r>
              <a:rPr lang="en-US" dirty="0">
                <a:sym typeface="Wingdings" panose="05000000000000000000" pitchFamily="2" charset="2"/>
              </a:rPr>
              <a:t>Research &amp; commercial adoption</a:t>
            </a:r>
          </a:p>
          <a:p>
            <a:endParaRPr lang="en-US" dirty="0"/>
          </a:p>
          <a:p>
            <a:r>
              <a:rPr lang="en-US" dirty="0"/>
              <a:t>Today, billions of devices connected across billions of separate networks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7EEE682C-278C-1CD1-D51F-A89B555A819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163" y="800099"/>
            <a:ext cx="4199365" cy="4199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7558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67AAC-2F40-C69A-08B2-C43992CAF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OSI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6363D-43B7-B739-C39B-D8370528E7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Computer networks are complex</a:t>
            </a:r>
          </a:p>
          <a:p>
            <a:r>
              <a:rPr lang="en-US" dirty="0"/>
              <a:t>Desire to exchange network services based on needs</a:t>
            </a:r>
          </a:p>
          <a:p>
            <a:pPr lvl="1"/>
            <a:r>
              <a:rPr lang="en-US" dirty="0"/>
              <a:t>Latency</a:t>
            </a:r>
          </a:p>
          <a:p>
            <a:pPr lvl="1"/>
            <a:r>
              <a:rPr lang="en-US" dirty="0"/>
              <a:t>Bandwidth</a:t>
            </a:r>
          </a:p>
          <a:p>
            <a:pPr lvl="1"/>
            <a:r>
              <a:rPr lang="en-US" dirty="0"/>
              <a:t>Reliability</a:t>
            </a:r>
          </a:p>
          <a:p>
            <a:pPr lvl="1"/>
            <a:r>
              <a:rPr lang="en-US" dirty="0"/>
              <a:t>Mobility</a:t>
            </a:r>
          </a:p>
          <a:p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Separate functionality / roles into layers</a:t>
            </a:r>
          </a:p>
          <a:p>
            <a:r>
              <a:rPr lang="en-US" dirty="0"/>
              <a:t>Base concerns for application developers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Multiplexing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Addressing</a:t>
            </a:r>
          </a:p>
          <a:p>
            <a:pPr lvl="1"/>
            <a:r>
              <a:rPr lang="en-US" dirty="0"/>
              <a:t>Reliability</a:t>
            </a:r>
          </a:p>
          <a:p>
            <a:r>
              <a:rPr lang="en-US" dirty="0"/>
              <a:t>Other layers important for troubleshooting issues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1A3E7A1-EF6A-06EB-B02A-748E2F7B47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/>
        </p:blipFill>
        <p:spPr>
          <a:xfrm>
            <a:off x="4572000" y="262002"/>
            <a:ext cx="4506517" cy="457288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9CB8CB0C-159B-9C6E-5815-3046365443EC}"/>
              </a:ext>
            </a:extLst>
          </p:cNvPr>
          <p:cNvSpPr/>
          <p:nvPr/>
        </p:nvSpPr>
        <p:spPr>
          <a:xfrm>
            <a:off x="7561857" y="3573516"/>
            <a:ext cx="656029" cy="304159"/>
          </a:xfrm>
          <a:prstGeom prst="ellipse">
            <a:avLst/>
          </a:prstGeom>
          <a:noFill/>
          <a:ln w="38100">
            <a:solidFill>
              <a:srgbClr val="FF000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7631EC0-5266-02EE-29FE-6E5508EE47A0}"/>
              </a:ext>
            </a:extLst>
          </p:cNvPr>
          <p:cNvSpPr/>
          <p:nvPr/>
        </p:nvSpPr>
        <p:spPr>
          <a:xfrm>
            <a:off x="6721029" y="3205654"/>
            <a:ext cx="656029" cy="304159"/>
          </a:xfrm>
          <a:prstGeom prst="ellipse">
            <a:avLst/>
          </a:prstGeom>
          <a:noFill/>
          <a:ln w="38100">
            <a:solidFill>
              <a:srgbClr val="FF000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739652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E557A-D8EE-586F-8079-0A9390203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Brief Aside: 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B5F6A-09B3-908F-B298-8492DF86A4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Ever interact with a protocol officer?</a:t>
            </a:r>
          </a:p>
          <a:p>
            <a:r>
              <a:rPr lang="en-US" dirty="0"/>
              <a:t>Protocols inform developers how to communicate</a:t>
            </a:r>
          </a:p>
          <a:p>
            <a:r>
              <a:rPr lang="en-US" dirty="0"/>
              <a:t>TTPs for software</a:t>
            </a:r>
          </a:p>
          <a:p>
            <a:pPr lvl="1"/>
            <a:r>
              <a:rPr lang="en-US" dirty="0"/>
              <a:t>MUST, MUST NOT, SHOULD, SHOULD NOT</a:t>
            </a:r>
          </a:p>
          <a:p>
            <a:pPr lvl="1"/>
            <a:r>
              <a:rPr lang="en-US" dirty="0"/>
              <a:t>Data types, formatting, extensibility</a:t>
            </a:r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FDD489-E1C3-6305-9CDA-A638DB540C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Common protocols</a:t>
            </a:r>
          </a:p>
          <a:p>
            <a:pPr lvl="1"/>
            <a:r>
              <a:rPr lang="en-US" dirty="0"/>
              <a:t>Ethernet</a:t>
            </a:r>
          </a:p>
          <a:p>
            <a:pPr lvl="1"/>
            <a:r>
              <a:rPr lang="en-US" dirty="0"/>
              <a:t>IP</a:t>
            </a:r>
          </a:p>
          <a:p>
            <a:pPr lvl="1"/>
            <a:r>
              <a:rPr lang="en-US" dirty="0"/>
              <a:t>TCP</a:t>
            </a:r>
          </a:p>
          <a:p>
            <a:pPr lvl="1"/>
            <a:r>
              <a:rPr lang="en-US" dirty="0"/>
              <a:t>UDP</a:t>
            </a:r>
          </a:p>
          <a:p>
            <a:pPr lvl="1"/>
            <a:r>
              <a:rPr lang="en-US" dirty="0"/>
              <a:t>TLS/SSL</a:t>
            </a:r>
          </a:p>
          <a:p>
            <a:pPr lvl="1"/>
            <a:r>
              <a:rPr lang="en-US" dirty="0"/>
              <a:t>HTTP</a:t>
            </a:r>
          </a:p>
          <a:p>
            <a:pPr lvl="1"/>
            <a:r>
              <a:rPr lang="en-US" dirty="0"/>
              <a:t>SMTP</a:t>
            </a:r>
          </a:p>
          <a:p>
            <a:pPr lvl="1"/>
            <a:r>
              <a:rPr lang="en-US" dirty="0"/>
              <a:t>FTP</a:t>
            </a:r>
          </a:p>
        </p:txBody>
      </p:sp>
    </p:spTree>
    <p:extLst>
      <p:ext uri="{BB962C8B-B14F-4D97-AF65-F5344CB8AC3E}">
        <p14:creationId xmlns:p14="http://schemas.microsoft.com/office/powerpoint/2010/main" val="2001471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F067C8BD-9B8B-CCBD-E7C5-AD62B9BD6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2857B85-4FE8-52A1-6060-DD392458A4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31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F4E0C-187B-7413-DC29-694644E68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1C346-D237-F794-8BA9-B4F149BA8F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Addresses</a:t>
            </a:r>
          </a:p>
          <a:p>
            <a:r>
              <a:rPr lang="en-US" dirty="0"/>
              <a:t>4 octets of 8 binary digits (bits) </a:t>
            </a:r>
            <a:r>
              <a:rPr lang="en-US" dirty="0">
                <a:sym typeface="Wingdings" panose="05000000000000000000" pitchFamily="2" charset="2"/>
              </a:rPr>
              <a:t> 32 bits</a:t>
            </a:r>
            <a:endParaRPr lang="en-US" dirty="0"/>
          </a:p>
          <a:p>
            <a:pPr lvl="1"/>
            <a:r>
              <a:rPr lang="en-US" dirty="0"/>
              <a:t>Expressed in dotted decimal notation</a:t>
            </a:r>
          </a:p>
          <a:p>
            <a:pPr lvl="1"/>
            <a:r>
              <a:rPr lang="en-US" dirty="0"/>
              <a:t>192.168.0.1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11000000 10101000 00000000 00000001</a:t>
            </a:r>
          </a:p>
          <a:p>
            <a:pPr lvl="1"/>
            <a:r>
              <a:rPr lang="en-US" dirty="0"/>
              <a:t>Range of each octet is 0 – 255</a:t>
            </a:r>
          </a:p>
          <a:p>
            <a:r>
              <a:rPr lang="en-US" dirty="0"/>
              <a:t>A </a:t>
            </a:r>
            <a:r>
              <a:rPr lang="en-US" i="1" dirty="0"/>
              <a:t>logical</a:t>
            </a:r>
            <a:r>
              <a:rPr lang="en-US" dirty="0"/>
              <a:t> identifier for a device</a:t>
            </a:r>
          </a:p>
          <a:p>
            <a:pPr lvl="1"/>
            <a:r>
              <a:rPr lang="en-US" dirty="0"/>
              <a:t>Each device can have multiple addresses</a:t>
            </a:r>
          </a:p>
          <a:p>
            <a:pPr lvl="1"/>
            <a:r>
              <a:rPr lang="en-US" dirty="0"/>
              <a:t>In principle, each identifier is unique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5E80E-E0B5-8B02-8A60-3CD4E005BB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Networks</a:t>
            </a:r>
          </a:p>
          <a:p>
            <a:r>
              <a:rPr lang="en-US" i="1" dirty="0"/>
              <a:t>Logical</a:t>
            </a:r>
            <a:r>
              <a:rPr lang="en-US" dirty="0"/>
              <a:t> separation of address spaces</a:t>
            </a:r>
          </a:p>
          <a:p>
            <a:pPr lvl="1"/>
            <a:r>
              <a:rPr lang="en-US" dirty="0"/>
              <a:t>Devices on the same network can talk directly (</a:t>
            </a:r>
            <a:r>
              <a:rPr lang="en-US" i="1" dirty="0"/>
              <a:t>switched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Devices on separate networks need to be </a:t>
            </a:r>
            <a:r>
              <a:rPr lang="en-US" i="1" dirty="0"/>
              <a:t>routed</a:t>
            </a:r>
            <a:endParaRPr lang="en-US" dirty="0"/>
          </a:p>
          <a:p>
            <a:endParaRPr lang="en-US" dirty="0"/>
          </a:p>
          <a:p>
            <a:r>
              <a:rPr lang="en-US" dirty="0"/>
              <a:t>Networks are defined by a “mask”</a:t>
            </a:r>
          </a:p>
          <a:p>
            <a:pPr lvl="1"/>
            <a:r>
              <a:rPr lang="en-US" dirty="0"/>
              <a:t>The first N bits define the network portion</a:t>
            </a:r>
          </a:p>
          <a:p>
            <a:pPr lvl="1"/>
            <a:r>
              <a:rPr lang="en-US" dirty="0"/>
              <a:t>The remaining 32 - N bits define the device ID</a:t>
            </a:r>
          </a:p>
          <a:p>
            <a:r>
              <a:rPr lang="en-US" dirty="0"/>
              <a:t>192.168.0.1 </a:t>
            </a:r>
            <a:r>
              <a:rPr lang="en-US" dirty="0">
                <a:highlight>
                  <a:srgbClr val="FFFF00"/>
                </a:highlight>
              </a:rPr>
              <a:t>/24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24 bits </a:t>
            </a:r>
            <a:r>
              <a:rPr lang="en-US" dirty="0">
                <a:highlight>
                  <a:srgbClr val="FFFF00"/>
                </a:highlight>
                <a:sym typeface="Wingdings" panose="05000000000000000000" pitchFamily="2" charset="2"/>
              </a:rPr>
              <a:t> network mask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>
                <a:highlight>
                  <a:srgbClr val="00FFFF"/>
                </a:highlight>
                <a:sym typeface="Wingdings" panose="05000000000000000000" pitchFamily="2" charset="2"/>
              </a:rPr>
              <a:t>last 8 bits  device mask</a:t>
            </a:r>
          </a:p>
          <a:p>
            <a:pPr lvl="1"/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11000000 10101000 00000000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00000001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192.168.0</a:t>
            </a:r>
            <a:r>
              <a:rPr lang="en-US" dirty="0">
                <a:highlight>
                  <a:srgbClr val="00FFFF"/>
                </a:highlight>
              </a:rPr>
              <a:t>.1 </a:t>
            </a:r>
            <a:r>
              <a:rPr lang="en-US" dirty="0">
                <a:highlight>
                  <a:srgbClr val="FFFF00"/>
                </a:highlight>
              </a:rPr>
              <a:t>/24</a:t>
            </a:r>
            <a:endParaRPr lang="en-US" dirty="0"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185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3D50-A6CB-80FA-F812-E0E22C866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Refresher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C1316-4990-C40E-88E3-885AFE5C68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8" y="1200150"/>
            <a:ext cx="4454811" cy="3429000"/>
          </a:xfrm>
        </p:spPr>
        <p:txBody>
          <a:bodyPr/>
          <a:lstStyle/>
          <a:p>
            <a:r>
              <a:rPr lang="en-US" dirty="0"/>
              <a:t>1 byte = 8 bits</a:t>
            </a:r>
          </a:p>
          <a:p>
            <a:r>
              <a:rPr lang="en-US" dirty="0"/>
              <a:t>Range = 0 – 255</a:t>
            </a:r>
          </a:p>
          <a:p>
            <a:r>
              <a:rPr lang="en-US" dirty="0"/>
              <a:t>Commonly the Most Significant Bit is on the left</a:t>
            </a:r>
          </a:p>
          <a:p>
            <a:r>
              <a:rPr lang="en-US" dirty="0"/>
              <a:t>Add up any value that has a `1` below it</a:t>
            </a:r>
          </a:p>
          <a:p>
            <a:pPr marL="13716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128  64  32  16   8   4   2   1</a:t>
            </a:r>
          </a:p>
          <a:p>
            <a:pPr marL="13716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0   1   1   0   0   0   0   0 (binary)</a:t>
            </a:r>
          </a:p>
          <a:p>
            <a:pPr marL="137160" lvl="1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716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64 + 32 = 96 (decimal)</a:t>
            </a:r>
          </a:p>
          <a:p>
            <a:endParaRPr lang="en-US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32 bits = ?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4,294,967,295 max</a:t>
            </a: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F6A032-8795-A77F-55F3-849C3E49D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39861" y="1200150"/>
            <a:ext cx="3792657" cy="3429000"/>
          </a:xfrm>
        </p:spPr>
        <p:txBody>
          <a:bodyPr/>
          <a:lstStyle/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AEA91C-FBC5-BBE5-41F0-C9CE3B38B8C5}"/>
              </a:ext>
            </a:extLst>
          </p:cNvPr>
          <p:cNvCxnSpPr/>
          <p:nvPr/>
        </p:nvCxnSpPr>
        <p:spPr>
          <a:xfrm>
            <a:off x="677008" y="2475035"/>
            <a:ext cx="3235569" cy="0"/>
          </a:xfrm>
          <a:prstGeom prst="line">
            <a:avLst/>
          </a:prstGeom>
          <a:ln w="12700" cap="flat"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</p:spTree>
    <p:extLst>
      <p:ext uri="{BB962C8B-B14F-4D97-AF65-F5344CB8AC3E}">
        <p14:creationId xmlns:p14="http://schemas.microsoft.com/office/powerpoint/2010/main" val="407047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8E5D6-4AB1-3CA6-1978-F5E4A79FD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– More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430F4-7F5D-E8AE-5037-76CAF9EFF2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80" y="857250"/>
            <a:ext cx="5427018" cy="3429000"/>
          </a:xfrm>
        </p:spPr>
        <p:txBody>
          <a:bodyPr/>
          <a:lstStyle/>
          <a:p>
            <a:r>
              <a:rPr lang="en-US" dirty="0"/>
              <a:t>Work through some samples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172. 20. 10.  5  /14</a:t>
            </a:r>
          </a:p>
          <a:p>
            <a:pPr lvl="2"/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10101100 000101</a:t>
            </a:r>
            <a:r>
              <a:rPr lang="en-US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00 00001010 00000101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(IP address)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11111111 11111100 00000000 00000000 (network mask)</a:t>
            </a:r>
          </a:p>
          <a:p>
            <a:pPr lvl="2"/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10101100 000101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00 00000000 00000000 (network addy)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172.20.0.0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00000000 00000011 11111111 11111111 (device mask)</a:t>
            </a:r>
          </a:p>
          <a:p>
            <a:pPr lvl="2"/>
            <a:r>
              <a:rPr lang="en-US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10101100 000101</a:t>
            </a:r>
            <a:r>
              <a:rPr lang="en-US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00 00001010 00000101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(device addy)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172.20.10.5</a:t>
            </a:r>
          </a:p>
          <a:p>
            <a:pPr marL="137160" lvl="1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10. 12. 45.100  /16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190.154. 10.  1  /12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190.154. 30. 50  /12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10. 65.  1. 20  /16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172. 22.  5.  9  /14</a:t>
            </a:r>
          </a:p>
          <a:p>
            <a:r>
              <a:rPr lang="en-US" dirty="0">
                <a:cs typeface="Courier New" panose="02070309020205020404" pitchFamily="49" charset="0"/>
              </a:rPr>
              <a:t>Which addresses are on the same network?</a:t>
            </a:r>
          </a:p>
          <a:p>
            <a:r>
              <a:rPr lang="en-US" dirty="0">
                <a:cs typeface="Courier New" panose="02070309020205020404" pitchFamily="49" charset="0"/>
              </a:rPr>
              <a:t>How many devices addresses can be assigned in a /16?</a:t>
            </a:r>
          </a:p>
          <a:p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70CA81-A052-0CE0-F95D-EE4E02762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8855" y="857250"/>
            <a:ext cx="2783663" cy="3429000"/>
          </a:xfrm>
        </p:spPr>
        <p:txBody>
          <a:bodyPr/>
          <a:lstStyle/>
          <a:p>
            <a:r>
              <a:rPr lang="en-US" dirty="0"/>
              <a:t>Called “Classless </a:t>
            </a:r>
            <a:r>
              <a:rPr lang="en-US" dirty="0" err="1"/>
              <a:t>InterDomain</a:t>
            </a:r>
            <a:r>
              <a:rPr lang="en-US" dirty="0"/>
              <a:t> Routing” (CIDR)</a:t>
            </a:r>
          </a:p>
          <a:p>
            <a:r>
              <a:rPr lang="en-US" dirty="0"/>
              <a:t>Early internet was divided into “classes” of networks</a:t>
            </a:r>
          </a:p>
          <a:p>
            <a:pPr lvl="1"/>
            <a:r>
              <a:rPr lang="en-US" dirty="0"/>
              <a:t>/8</a:t>
            </a:r>
          </a:p>
          <a:p>
            <a:pPr lvl="1"/>
            <a:r>
              <a:rPr lang="en-US" dirty="0"/>
              <a:t>/12</a:t>
            </a:r>
          </a:p>
          <a:p>
            <a:pPr lvl="1"/>
            <a:r>
              <a:rPr lang="en-US" dirty="0"/>
              <a:t>/16</a:t>
            </a:r>
          </a:p>
          <a:p>
            <a:r>
              <a:rPr lang="en-US" dirty="0"/>
              <a:t>CIDR enables more efficient </a:t>
            </a:r>
            <a:r>
              <a:rPr lang="en-US" i="1" dirty="0"/>
              <a:t>subnetting</a:t>
            </a:r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CF89C9-E27F-CA22-9450-DC3822303577}"/>
              </a:ext>
            </a:extLst>
          </p:cNvPr>
          <p:cNvSpPr txBox="1"/>
          <p:nvPr/>
        </p:nvSpPr>
        <p:spPr>
          <a:xfrm>
            <a:off x="3768363" y="3288323"/>
            <a:ext cx="231911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190.154. 10.  1  /12</a:t>
            </a:r>
          </a:p>
          <a:p>
            <a:pPr lvl="1"/>
            <a:r>
              <a:rPr lang="en-US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190.154. 30. 50  /12</a:t>
            </a:r>
          </a:p>
          <a:p>
            <a:pPr lvl="1"/>
            <a:r>
              <a:rPr lang="en-US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172. 22.  5.  9  /14</a:t>
            </a:r>
          </a:p>
          <a:p>
            <a:pPr lvl="1"/>
            <a:r>
              <a:rPr lang="en-US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172. 20. 10.  5  /14</a:t>
            </a:r>
          </a:p>
          <a:p>
            <a:pPr lvl="1"/>
            <a:r>
              <a:rPr lang="en-US" dirty="0">
                <a:highlight>
                  <a:srgbClr val="808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10. 12. 45.100  /16</a:t>
            </a:r>
          </a:p>
          <a:p>
            <a:pPr lvl="1"/>
            <a:r>
              <a:rPr lang="en-US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10. 65.  1. 20  /16</a:t>
            </a:r>
          </a:p>
        </p:txBody>
      </p:sp>
    </p:spTree>
    <p:extLst>
      <p:ext uri="{BB962C8B-B14F-4D97-AF65-F5344CB8AC3E}">
        <p14:creationId xmlns:p14="http://schemas.microsoft.com/office/powerpoint/2010/main" val="1515588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82ADB-713B-DD03-B1E1-B9A1B1CADE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927216-FE3C-ADAD-2201-AE69726FC2D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What Is a Subnet (Subnetwork)? Subnetting Explained">
            <a:extLst>
              <a:ext uri="{FF2B5EF4-FFF2-40B4-BE49-F238E27FC236}">
                <a16:creationId xmlns:a16="http://schemas.microsoft.com/office/drawing/2014/main" id="{390C059F-24A7-00BC-28CD-288759792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654" y="651511"/>
            <a:ext cx="7620000" cy="406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763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B0583-9E7A-9535-B8F3-618E763A9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– Reserved Addresses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E94FF6C-B6DB-83B0-18FA-B1AE514D6C6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72834210"/>
              </p:ext>
            </p:extLst>
          </p:nvPr>
        </p:nvGraphicFramePr>
        <p:xfrm>
          <a:off x="2017876" y="1222997"/>
          <a:ext cx="4475578" cy="3611892"/>
        </p:xfrm>
        <a:graphic>
          <a:graphicData uri="http://schemas.openxmlformats.org/drawingml/2006/table">
            <a:tbl>
              <a:tblPr/>
              <a:tblGrid>
                <a:gridCol w="2237789">
                  <a:extLst>
                    <a:ext uri="{9D8B030D-6E8A-4147-A177-3AD203B41FA5}">
                      <a16:colId xmlns:a16="http://schemas.microsoft.com/office/drawing/2014/main" val="2893615785"/>
                    </a:ext>
                  </a:extLst>
                </a:gridCol>
                <a:gridCol w="2237789">
                  <a:extLst>
                    <a:ext uri="{9D8B030D-6E8A-4147-A177-3AD203B41FA5}">
                      <a16:colId xmlns:a16="http://schemas.microsoft.com/office/drawing/2014/main" val="3977585347"/>
                    </a:ext>
                  </a:extLst>
                </a:gridCol>
              </a:tblGrid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Network Range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/>
                        <a:t>Purpose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5045340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0.0.0.0/8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Network identification, default routes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661372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10.0.0.0/8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Private</a:t>
                      </a:r>
                      <a:r>
                        <a:rPr lang="en-US" sz="1100" dirty="0"/>
                        <a:t> networks (RFC 1918)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145204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100.64.0.0/10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Carrier-grade NAT (CGNAT)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821730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127.0.0.0/8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Loopback</a:t>
                      </a:r>
                      <a:r>
                        <a:rPr lang="en-US" sz="1100" dirty="0"/>
                        <a:t> (localhost)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651175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169.254.0.0/16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Link-local (APIPA)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555260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172.16.0.0/12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Private</a:t>
                      </a:r>
                      <a:r>
                        <a:rPr lang="en-US" sz="1100" dirty="0"/>
                        <a:t> networks (RFC 1918)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967149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192.0.0.0/24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IETF Protocol Assignments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52452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192.168.0.0/16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highlight>
                            <a:srgbClr val="FFFF00"/>
                          </a:highlight>
                        </a:rPr>
                        <a:t>Private</a:t>
                      </a:r>
                      <a:r>
                        <a:rPr lang="en-US" sz="1100" dirty="0"/>
                        <a:t> networks (RFC 1918)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910929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192.88.99.0/24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IPv6-to-IPv4 relay (deprecated)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487904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198.18.0.0/15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Network benchmark testing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439859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224.0.0.0/4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Multicast addresses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159718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Courier New" panose="02070309020205020404" pitchFamily="49" charset="0"/>
                        </a:rPr>
                        <a:t>240.0.0.0/4</a:t>
                      </a:r>
                      <a:endParaRPr lang="en-US" sz="110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Reserved for future use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94323"/>
                  </a:ext>
                </a:extLst>
              </a:tr>
              <a:tr h="244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Courier New" panose="02070309020205020404" pitchFamily="49" charset="0"/>
                        </a:rPr>
                        <a:t>255.255.255.255</a:t>
                      </a:r>
                      <a:endParaRPr lang="en-US" sz="1100" dirty="0"/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Limited broadcast</a:t>
                      </a:r>
                    </a:p>
                  </a:txBody>
                  <a:tcPr marL="78377" marR="78377" marT="39189" marB="391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814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9692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nternetwork An internetwork is a collection of individual networks ...">
            <a:extLst>
              <a:ext uri="{FF2B5EF4-FFF2-40B4-BE49-F238E27FC236}">
                <a16:creationId xmlns:a16="http://schemas.microsoft.com/office/drawing/2014/main" id="{FB23301D-0286-5130-D819-BC1A0CD462F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5739" y="929274"/>
            <a:ext cx="5373559" cy="402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11BE09-8E7B-B4C2-63AA-63406B6C5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– Even More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8E769-6BB0-719A-BDB8-C33C9FED92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Different networks </a:t>
            </a:r>
            <a:r>
              <a:rPr lang="en-US" dirty="0">
                <a:sym typeface="Wingdings" panose="05000000000000000000" pitchFamily="2" charset="2"/>
              </a:rPr>
              <a:t> needs routing</a:t>
            </a:r>
          </a:p>
          <a:p>
            <a:r>
              <a:rPr lang="en-US" dirty="0"/>
              <a:t>Internet consists of a “network of networks”</a:t>
            </a:r>
          </a:p>
          <a:p>
            <a:endParaRPr lang="en-US" dirty="0"/>
          </a:p>
          <a:p>
            <a:r>
              <a:rPr lang="en-US" dirty="0"/>
              <a:t>How do I prevent people from talking to devices on my network?</a:t>
            </a:r>
          </a:p>
          <a:p>
            <a:endParaRPr lang="en-US" dirty="0"/>
          </a:p>
          <a:p>
            <a:r>
              <a:rPr lang="en-US" dirty="0"/>
              <a:t>Didn’t we run out of IPv4 addresses?</a:t>
            </a:r>
          </a:p>
          <a:p>
            <a:endParaRPr lang="en-US" dirty="0"/>
          </a:p>
          <a:p>
            <a:r>
              <a:rPr lang="en-US" dirty="0"/>
              <a:t>Aren’t IP addresses expensive?</a:t>
            </a:r>
          </a:p>
        </p:txBody>
      </p:sp>
    </p:spTree>
    <p:extLst>
      <p:ext uri="{BB962C8B-B14F-4D97-AF65-F5344CB8AC3E}">
        <p14:creationId xmlns:p14="http://schemas.microsoft.com/office/powerpoint/2010/main" val="164872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E07A-134F-E74B-8F22-7C869A97F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– NAT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FA7DB-D7D2-A40D-3ADC-3E9E00B63B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To address some of these concerns, translation was introduced</a:t>
            </a:r>
          </a:p>
          <a:p>
            <a:pPr lvl="1"/>
            <a:r>
              <a:rPr lang="en-US" dirty="0"/>
              <a:t>Usually the function of a router</a:t>
            </a:r>
          </a:p>
          <a:p>
            <a:pPr lvl="1"/>
            <a:r>
              <a:rPr lang="en-US" dirty="0"/>
              <a:t>Convert </a:t>
            </a:r>
            <a:r>
              <a:rPr lang="en-US" i="1" dirty="0"/>
              <a:t>external</a:t>
            </a:r>
            <a:r>
              <a:rPr lang="en-US" dirty="0"/>
              <a:t> IP address into </a:t>
            </a:r>
            <a:r>
              <a:rPr lang="en-US" i="1" dirty="0"/>
              <a:t>internal</a:t>
            </a:r>
            <a:r>
              <a:rPr lang="en-US" dirty="0"/>
              <a:t> IP addresses</a:t>
            </a:r>
          </a:p>
          <a:p>
            <a:r>
              <a:rPr lang="en-US" dirty="0"/>
              <a:t>Types</a:t>
            </a:r>
          </a:p>
          <a:p>
            <a:pPr lvl="1"/>
            <a:r>
              <a:rPr lang="en-US" dirty="0"/>
              <a:t>Static</a:t>
            </a:r>
          </a:p>
          <a:p>
            <a:pPr lvl="1"/>
            <a:r>
              <a:rPr lang="en-US" dirty="0"/>
              <a:t>Dynamic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PAT (NAT overload)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6766889-B576-DC01-1A43-50D3198F808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 bwMode="auto">
          <a:xfrm>
            <a:off x="4355708" y="1375177"/>
            <a:ext cx="4618419" cy="3078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317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D063C-59E5-F41F-82F5-135DA6BC0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0E7A09F-5C12-6310-B6EF-B3FF09F3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Multiplexing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8C1BF79-2C65-E4D5-6B54-962768A25E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66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BB6D3-C8E3-C3A0-9FE3-E6FD88DD0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915B4-0652-90D9-3928-F1C3182A11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“having many folds; many times as great in number; of many parts”</a:t>
            </a:r>
          </a:p>
          <a:p>
            <a:r>
              <a:rPr lang="en-US" dirty="0"/>
              <a:t>Fitting multiple streams over the same channel</a:t>
            </a:r>
          </a:p>
          <a:p>
            <a:r>
              <a:rPr lang="en-US" dirty="0"/>
              <a:t>Transport layer handles this with ports </a:t>
            </a:r>
            <a:br>
              <a:rPr lang="en-US" dirty="0"/>
            </a:br>
            <a:r>
              <a:rPr lang="en-US" dirty="0"/>
              <a:t>(sits above network layer)</a:t>
            </a:r>
          </a:p>
          <a:p>
            <a:endParaRPr lang="en-US" dirty="0"/>
          </a:p>
          <a:p>
            <a:r>
              <a:rPr lang="en-US" dirty="0"/>
              <a:t>Each </a:t>
            </a:r>
            <a:r>
              <a:rPr lang="en-US" i="1" dirty="0"/>
              <a:t>socket</a:t>
            </a:r>
            <a:r>
              <a:rPr lang="en-US" dirty="0"/>
              <a:t> consists of an IP/port pair between sender and receiver</a:t>
            </a:r>
          </a:p>
          <a:p>
            <a:pPr lvl="1"/>
            <a:r>
              <a:rPr lang="en-US" dirty="0"/>
              <a:t>Multiple streams of data on same interface</a:t>
            </a:r>
          </a:p>
          <a:p>
            <a:pPr lvl="1"/>
            <a:r>
              <a:rPr lang="en-US" dirty="0"/>
              <a:t>Operating system needs to know where (which application) traffic should go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6146" name="Picture 2" descr="Transport Layer ISO OSI TCP ports UDP datagram">
            <a:extLst>
              <a:ext uri="{FF2B5EF4-FFF2-40B4-BE49-F238E27FC236}">
                <a16:creationId xmlns:a16="http://schemas.microsoft.com/office/drawing/2014/main" id="{2C1F4B99-D98B-1BC4-AF3B-7E53A1C68F7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72"/>
          <a:stretch>
            <a:fillRect/>
          </a:stretch>
        </p:blipFill>
        <p:spPr bwMode="auto">
          <a:xfrm>
            <a:off x="4709163" y="1564287"/>
            <a:ext cx="4024313" cy="2780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420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97C2A-1B81-B665-D7FE-120251523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18D0EDA-C2BA-F105-7BBD-3A7DB51175F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79534716"/>
              </p:ext>
            </p:extLst>
          </p:nvPr>
        </p:nvGraphicFramePr>
        <p:xfrm>
          <a:off x="136509" y="1340827"/>
          <a:ext cx="8870981" cy="3191608"/>
        </p:xfrm>
        <a:graphic>
          <a:graphicData uri="http://schemas.openxmlformats.org/drawingml/2006/table">
            <a:tbl>
              <a:tblPr/>
              <a:tblGrid>
                <a:gridCol w="1267283">
                  <a:extLst>
                    <a:ext uri="{9D8B030D-6E8A-4147-A177-3AD203B41FA5}">
                      <a16:colId xmlns:a16="http://schemas.microsoft.com/office/drawing/2014/main" val="583604836"/>
                    </a:ext>
                  </a:extLst>
                </a:gridCol>
                <a:gridCol w="996508">
                  <a:extLst>
                    <a:ext uri="{9D8B030D-6E8A-4147-A177-3AD203B41FA5}">
                      <a16:colId xmlns:a16="http://schemas.microsoft.com/office/drawing/2014/main" val="1617437957"/>
                    </a:ext>
                  </a:extLst>
                </a:gridCol>
                <a:gridCol w="852854">
                  <a:extLst>
                    <a:ext uri="{9D8B030D-6E8A-4147-A177-3AD203B41FA5}">
                      <a16:colId xmlns:a16="http://schemas.microsoft.com/office/drawing/2014/main" val="1073219469"/>
                    </a:ext>
                  </a:extLst>
                </a:gridCol>
                <a:gridCol w="1002323">
                  <a:extLst>
                    <a:ext uri="{9D8B030D-6E8A-4147-A177-3AD203B41FA5}">
                      <a16:colId xmlns:a16="http://schemas.microsoft.com/office/drawing/2014/main" val="3699931687"/>
                    </a:ext>
                  </a:extLst>
                </a:gridCol>
                <a:gridCol w="901211">
                  <a:extLst>
                    <a:ext uri="{9D8B030D-6E8A-4147-A177-3AD203B41FA5}">
                      <a16:colId xmlns:a16="http://schemas.microsoft.com/office/drawing/2014/main" val="67604605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1535092545"/>
                    </a:ext>
                  </a:extLst>
                </a:gridCol>
                <a:gridCol w="3050702">
                  <a:extLst>
                    <a:ext uri="{9D8B030D-6E8A-4147-A177-3AD203B41FA5}">
                      <a16:colId xmlns:a16="http://schemas.microsoft.com/office/drawing/2014/main" val="4009939866"/>
                    </a:ext>
                  </a:extLst>
                </a:gridCol>
              </a:tblGrid>
              <a:tr h="2168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Scenario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Application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Source IP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Source Port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Dest IP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Dest Port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Socket Identifier (minus protocol)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730892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Same App, Multiple Connections</a:t>
                      </a: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Chrome (Tab 1)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49152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142.250.185.46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192.168.1.10:49152 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703243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Chrome (Tab 2)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49153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142.250.185.46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192.168.1.10:49153 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098000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Different Protocols</a:t>
                      </a: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DNS Query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51234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8.8.8.8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53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192.168.1.10:51234 ↔ 8.8.8.8:53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730582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HTTPS Request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51235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8.8.8.8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192.168.1.10:51235 ↔ 8.8.8.8:443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359463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900" b="1">
                          <a:effectLst/>
                        </a:rPr>
                        <a:t>Same Dest Port, Different Services</a:t>
                      </a:r>
                      <a:endParaRPr lang="fr-FR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Web Browser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52001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93.184.216.34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80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192.168.1.10:52001 ↔ 93.184.216.34:80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316647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FTP Client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52002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93.184.216.34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21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192.168.1.10:52002 ↔ 93.184.216.34:21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936476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>
                          <a:effectLst/>
                        </a:rPr>
                        <a:t>Multiple Receivers</a:t>
                      </a: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Email Client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53001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74.125.200.108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993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192.168.1.10:53001 ↔ 74.125.200.108:993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174290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90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Video Stream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53002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151.101.1.140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192.168.1.10:53002 ↔ 151.101.1.140:443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418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9817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713D9-5E6B-9AFC-0A80-2F58BD485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 Reservations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135C8-23B2-0AD9-92FF-A5EC71B4A8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When developing an application…</a:t>
            </a:r>
          </a:p>
          <a:p>
            <a:pPr lvl="1"/>
            <a:r>
              <a:rPr lang="en-US" dirty="0"/>
              <a:t>Reserve an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interface:port</a:t>
            </a:r>
            <a:r>
              <a:rPr lang="en-US" dirty="0"/>
              <a:t> from the OS</a:t>
            </a:r>
          </a:p>
          <a:p>
            <a:pPr lvl="1"/>
            <a:r>
              <a:rPr lang="en-US" dirty="0"/>
              <a:t>Connect to some other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interface:port</a:t>
            </a:r>
            <a:endParaRPr lang="en-US" dirty="0"/>
          </a:p>
          <a:p>
            <a:pPr lvl="1"/>
            <a:r>
              <a:rPr lang="en-US" dirty="0"/>
              <a:t>Use that </a:t>
            </a:r>
            <a:r>
              <a:rPr lang="en-US" i="1" dirty="0"/>
              <a:t>socket</a:t>
            </a:r>
            <a:r>
              <a:rPr lang="en-US" dirty="0"/>
              <a:t> to communicate</a:t>
            </a:r>
          </a:p>
          <a:p>
            <a:pPr lvl="1"/>
            <a:r>
              <a:rPr lang="en-US" dirty="0"/>
              <a:t>Every separate data stream needs its own socket (in general)</a:t>
            </a:r>
          </a:p>
          <a:p>
            <a:pPr lvl="2"/>
            <a:r>
              <a:rPr lang="en-US" dirty="0"/>
              <a:t>Different app</a:t>
            </a:r>
          </a:p>
          <a:p>
            <a:pPr lvl="2"/>
            <a:r>
              <a:rPr lang="en-US" dirty="0"/>
              <a:t>Different source</a:t>
            </a:r>
          </a:p>
          <a:p>
            <a:pPr lvl="2"/>
            <a:r>
              <a:rPr lang="en-US" dirty="0"/>
              <a:t>Different destination</a:t>
            </a:r>
          </a:p>
          <a:p>
            <a:pPr lvl="1"/>
            <a:r>
              <a:rPr lang="en-US" dirty="0"/>
              <a:t>Often handled by lower-level libraries</a:t>
            </a:r>
          </a:p>
          <a:p>
            <a:pPr lvl="1"/>
            <a:r>
              <a:rPr lang="en-US" dirty="0"/>
              <a:t>Cannot open a socket that another app is using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26204-AEEE-6DB5-026C-EFB39C9E0D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Python/</a:t>
            </a:r>
            <a:r>
              <a:rPr lang="en-US" dirty="0" err="1"/>
              <a:t>powershell</a:t>
            </a:r>
            <a:r>
              <a:rPr lang="en-US" dirty="0"/>
              <a:t> port demo</a:t>
            </a:r>
          </a:p>
        </p:txBody>
      </p:sp>
    </p:spTree>
    <p:extLst>
      <p:ext uri="{BB962C8B-B14F-4D97-AF65-F5344CB8AC3E}">
        <p14:creationId xmlns:p14="http://schemas.microsoft.com/office/powerpoint/2010/main" val="694220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2E0BC7-17D6-046E-7386-9022E9843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IPv4 Addressing – PAT</a:t>
            </a:r>
          </a:p>
        </p:txBody>
      </p:sp>
      <p:pic>
        <p:nvPicPr>
          <p:cNvPr id="5122" name="Picture 2" descr="A brief about PAT- Port Address Translation - The Network DNA">
            <a:extLst>
              <a:ext uri="{FF2B5EF4-FFF2-40B4-BE49-F238E27FC236}">
                <a16:creationId xmlns:a16="http://schemas.microsoft.com/office/drawing/2014/main" id="{E0D65BA9-BFE6-6CA9-5898-8675824CF3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28" t="14388" r="12629" b="8549"/>
          <a:stretch>
            <a:fillRect/>
          </a:stretch>
        </p:blipFill>
        <p:spPr bwMode="auto">
          <a:xfrm>
            <a:off x="1197663" y="1093305"/>
            <a:ext cx="6495223" cy="3847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6CE09F-F8DE-38DD-DA30-7B2807E6216D}"/>
              </a:ext>
            </a:extLst>
          </p:cNvPr>
          <p:cNvSpPr txBox="1"/>
          <p:nvPr/>
        </p:nvSpPr>
        <p:spPr>
          <a:xfrm>
            <a:off x="411480" y="784943"/>
            <a:ext cx="3698350" cy="25891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r>
              <a:rPr lang="en-US" sz="1700" dirty="0"/>
              <a:t>Back to networking…</a:t>
            </a:r>
          </a:p>
        </p:txBody>
      </p:sp>
    </p:spTree>
    <p:extLst>
      <p:ext uri="{BB962C8B-B14F-4D97-AF65-F5344CB8AC3E}">
        <p14:creationId xmlns:p14="http://schemas.microsoft.com/office/powerpoint/2010/main" val="4069145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554A1-CADA-6A93-8C81-14A1A18A8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F0E65A01-AEFF-728D-1BD4-A77E2F3A25B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20354768"/>
              </p:ext>
            </p:extLst>
          </p:nvPr>
        </p:nvGraphicFramePr>
        <p:xfrm>
          <a:off x="136509" y="1340827"/>
          <a:ext cx="8862417" cy="3369862"/>
        </p:xfrm>
        <a:graphic>
          <a:graphicData uri="http://schemas.openxmlformats.org/drawingml/2006/table">
            <a:tbl>
              <a:tblPr/>
              <a:tblGrid>
                <a:gridCol w="782608">
                  <a:extLst>
                    <a:ext uri="{9D8B030D-6E8A-4147-A177-3AD203B41FA5}">
                      <a16:colId xmlns:a16="http://schemas.microsoft.com/office/drawing/2014/main" val="1073219469"/>
                    </a:ext>
                  </a:extLst>
                </a:gridCol>
                <a:gridCol w="812968">
                  <a:extLst>
                    <a:ext uri="{9D8B030D-6E8A-4147-A177-3AD203B41FA5}">
                      <a16:colId xmlns:a16="http://schemas.microsoft.com/office/drawing/2014/main" val="3699931687"/>
                    </a:ext>
                  </a:extLst>
                </a:gridCol>
                <a:gridCol w="933782">
                  <a:extLst>
                    <a:ext uri="{9D8B030D-6E8A-4147-A177-3AD203B41FA5}">
                      <a16:colId xmlns:a16="http://schemas.microsoft.com/office/drawing/2014/main" val="676046052"/>
                    </a:ext>
                  </a:extLst>
                </a:gridCol>
                <a:gridCol w="734199">
                  <a:extLst>
                    <a:ext uri="{9D8B030D-6E8A-4147-A177-3AD203B41FA5}">
                      <a16:colId xmlns:a16="http://schemas.microsoft.com/office/drawing/2014/main" val="1535092545"/>
                    </a:ext>
                  </a:extLst>
                </a:gridCol>
                <a:gridCol w="2799430">
                  <a:extLst>
                    <a:ext uri="{9D8B030D-6E8A-4147-A177-3AD203B41FA5}">
                      <a16:colId xmlns:a16="http://schemas.microsoft.com/office/drawing/2014/main" val="4009939866"/>
                    </a:ext>
                  </a:extLst>
                </a:gridCol>
                <a:gridCol w="2799430">
                  <a:extLst>
                    <a:ext uri="{9D8B030D-6E8A-4147-A177-3AD203B41FA5}">
                      <a16:colId xmlns:a16="http://schemas.microsoft.com/office/drawing/2014/main" val="517616431"/>
                    </a:ext>
                  </a:extLst>
                </a:gridCol>
              </a:tblGrid>
              <a:tr h="2168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Source IP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Source Port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effectLst/>
                        </a:rPr>
                        <a:t>Dest IP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Dest Port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Socket Identifier (minus protocol)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dirty="0">
                          <a:effectLst/>
                        </a:rPr>
                        <a:t>After PAT Rewrite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4730892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49152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142.250.185.46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192.168.1.10:49152 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:50002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703243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49153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142.250.185.46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192.168.1.10:49153 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:50003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142.250.185.46:443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098000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51234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8.8.8.8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>
                          <a:effectLst/>
                        </a:rPr>
                        <a:t>53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192.168.1.10:51234 ↔ 8.8.8.8:53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:50004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8.8.8.8:53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730582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192.168.1.10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51235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8.8.8.8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192.168.1.10:51235 ↔ 8.8.8.8:443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:50005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8.8.8.8:443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359463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192.168.1.20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52001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93.184.216.34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80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192.168.1.20:52001 ↔ 93.184.216.34:80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:50006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93.184.216.34:80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316647"/>
                  </a:ext>
                </a:extLst>
              </a:tr>
              <a:tr h="3407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192.168.1.20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52002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93.184.216.34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21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192.168.1.20:52002 ↔ 93.184.216.34:21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:50007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93.184.216.34:21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936476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192.168.1.20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53001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74.125.200.108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993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192.168.1.20:53001 ↔ 74.125.200.108:993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:50008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74.125.200.108:993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174290"/>
                  </a:ext>
                </a:extLst>
              </a:tr>
              <a:tr h="4029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192.168.1.20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53002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151.101.1.140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</a:rPr>
                        <a:t>443</a:t>
                      </a: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192.168.1.20:53002 ↔ 151.101.1.140:443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 b="1" dirty="0">
                          <a:highlight>
                            <a:srgbClr val="FFFF00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203.0.113.50</a:t>
                      </a:r>
                      <a:r>
                        <a:rPr lang="en-US" sz="9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:50009 </a:t>
                      </a:r>
                      <a:r>
                        <a:rPr lang="en-US" sz="900" dirty="0">
                          <a:effectLst/>
                          <a:latin typeface="Courier New" panose="02070309020205020404" pitchFamily="49" charset="0"/>
                        </a:rPr>
                        <a:t>↔ 151.101.1.140:443</a:t>
                      </a:r>
                      <a:endParaRPr lang="en-US" sz="900" dirty="0">
                        <a:effectLst/>
                      </a:endParaRPr>
                    </a:p>
                  </a:txBody>
                  <a:tcPr marL="29308" marR="29308" marT="14655" marB="1465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418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596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D063C-59E5-F41F-82F5-135DA6BC0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0E7A09F-5C12-6310-B6EF-B3FF09F30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8C1BF79-2C65-E4D5-6B54-962768A25E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466600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1166</Words>
  <Application>Microsoft Office PowerPoint</Application>
  <PresentationFormat>On-screen Show (16:9)</PresentationFormat>
  <Paragraphs>312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Bold</vt:lpstr>
      <vt:lpstr>Courier New</vt:lpstr>
      <vt:lpstr>Wingdings</vt:lpstr>
      <vt:lpstr>US Army 2023 AFC DEVCOM Logo</vt:lpstr>
      <vt:lpstr>Networking Basics For Applications</vt:lpstr>
      <vt:lpstr>Agenda</vt:lpstr>
      <vt:lpstr>Networking</vt:lpstr>
      <vt:lpstr>OSI model</vt:lpstr>
      <vt:lpstr>A Brief Aside:  Protocols</vt:lpstr>
      <vt:lpstr>IPv4 Addressing</vt:lpstr>
      <vt:lpstr>IPv4 Addressing Basics</vt:lpstr>
      <vt:lpstr>Binary Refresher</vt:lpstr>
      <vt:lpstr>IPv4 Addressing – More Networks</vt:lpstr>
      <vt:lpstr>PowerPoint Presentation</vt:lpstr>
      <vt:lpstr>IPv4 Addressing – Reserved Addresses</vt:lpstr>
      <vt:lpstr>IPv4 Addressing – Even More Networks</vt:lpstr>
      <vt:lpstr>IPv4 Addressing – NAT</vt:lpstr>
      <vt:lpstr>Multiplexing</vt:lpstr>
      <vt:lpstr>Multiplexing</vt:lpstr>
      <vt:lpstr>Sockets</vt:lpstr>
      <vt:lpstr>Port Reservations</vt:lpstr>
      <vt:lpstr>IPv4 Addressing – PAT</vt:lpstr>
      <vt:lpstr>PAT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Shafer</cp:lastModifiedBy>
  <cp:revision>141</cp:revision>
  <dcterms:modified xsi:type="dcterms:W3CDTF">2026-05-05T19:44:15Z</dcterms:modified>
</cp:coreProperties>
</file>